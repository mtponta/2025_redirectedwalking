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8dcea39fcf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8dcea39fcf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8dcea39fcf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8dcea39fcf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bac7e84cf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bac7e84cf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8dcea39fcf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8dcea39fcf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9db78fadb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9db78fadb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8dcea39fcf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8dcea39fcf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bc0705381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3bc0705381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bc15f85ec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3bc15f85ec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bc15f85ec8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3bc15f85ec8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9b94e4daf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39b94e4daf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4" name="Google Shape;54;p13"/>
          <p:cNvCxnSpPr/>
          <p:nvPr/>
        </p:nvCxnSpPr>
        <p:spPr>
          <a:xfrm rot="10800000">
            <a:off x="2340050" y="155850"/>
            <a:ext cx="57000" cy="3305700"/>
          </a:xfrm>
          <a:prstGeom prst="straightConnector1">
            <a:avLst/>
          </a:prstGeom>
          <a:noFill/>
          <a:ln cap="flat" cmpd="sng" w="76200">
            <a:solidFill>
              <a:schemeClr val="accent1"/>
            </a:solidFill>
            <a:prstDash val="dash"/>
            <a:round/>
            <a:headEnd len="med" w="med" type="none"/>
            <a:tailEnd len="med" w="med" type="stealth"/>
          </a:ln>
        </p:spPr>
      </p:cxnSp>
      <p:grpSp>
        <p:nvGrpSpPr>
          <p:cNvPr id="55" name="Google Shape;55;p13"/>
          <p:cNvGrpSpPr/>
          <p:nvPr/>
        </p:nvGrpSpPr>
        <p:grpSpPr>
          <a:xfrm>
            <a:off x="1571069" y="3461550"/>
            <a:ext cx="2578259" cy="1555511"/>
            <a:chOff x="1550350" y="2507097"/>
            <a:chExt cx="2981681" cy="1798903"/>
          </a:xfrm>
        </p:grpSpPr>
        <p:sp>
          <p:nvSpPr>
            <p:cNvPr id="56" name="Google Shape;56;p13"/>
            <p:cNvSpPr/>
            <p:nvPr/>
          </p:nvSpPr>
          <p:spPr>
            <a:xfrm>
              <a:off x="1550350" y="3557000"/>
              <a:ext cx="1911900" cy="665100"/>
            </a:xfrm>
            <a:prstGeom prst="roundRect">
              <a:avLst>
                <a:gd fmla="val 37494" name="adj"/>
              </a:avLst>
            </a:prstGeom>
            <a:solidFill>
              <a:srgbClr val="999999"/>
            </a:solidFill>
            <a:ln cap="flat" cmpd="sng" w="82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9050" lIns="79050" spcFirstLastPara="1" rIns="79050" wrap="square" tIns="790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10"/>
            </a:p>
          </p:txBody>
        </p:sp>
        <p:sp>
          <p:nvSpPr>
            <p:cNvPr id="57" name="Google Shape;57;p13"/>
            <p:cNvSpPr/>
            <p:nvPr/>
          </p:nvSpPr>
          <p:spPr>
            <a:xfrm>
              <a:off x="2002425" y="2996725"/>
              <a:ext cx="997500" cy="467700"/>
            </a:xfrm>
            <a:prstGeom prst="roundRect">
              <a:avLst>
                <a:gd fmla="val 16667" name="adj"/>
              </a:avLst>
            </a:prstGeom>
            <a:solidFill>
              <a:schemeClr val="dk2"/>
            </a:solidFill>
            <a:ln cap="flat" cmpd="sng" w="82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9050" lIns="79050" spcFirstLastPara="1" rIns="79050" wrap="square" tIns="790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10"/>
            </a:p>
          </p:txBody>
        </p:sp>
        <p:sp>
          <p:nvSpPr>
            <p:cNvPr id="58" name="Google Shape;58;p13"/>
            <p:cNvSpPr/>
            <p:nvPr/>
          </p:nvSpPr>
          <p:spPr>
            <a:xfrm>
              <a:off x="1924425" y="3048700"/>
              <a:ext cx="1153500" cy="1257300"/>
            </a:xfrm>
            <a:prstGeom prst="ellipse">
              <a:avLst/>
            </a:prstGeom>
            <a:solidFill>
              <a:schemeClr val="lt2"/>
            </a:solidFill>
            <a:ln cap="flat" cmpd="sng" w="82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9050" lIns="79050" spcFirstLastPara="1" rIns="79050" wrap="square" tIns="790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ja" sz="1410"/>
                <a:t>ユーザ</a:t>
              </a:r>
              <a:endParaRPr sz="1410"/>
            </a:p>
          </p:txBody>
        </p:sp>
        <p:sp>
          <p:nvSpPr>
            <p:cNvPr id="59" name="Google Shape;59;p13"/>
            <p:cNvSpPr/>
            <p:nvPr/>
          </p:nvSpPr>
          <p:spPr>
            <a:xfrm>
              <a:off x="2251725" y="2571750"/>
              <a:ext cx="498900" cy="332400"/>
            </a:xfrm>
            <a:prstGeom prst="upArrow">
              <a:avLst>
                <a:gd fmla="val 50000" name="adj1"/>
                <a:gd fmla="val 50000" name="adj2"/>
              </a:avLst>
            </a:prstGeom>
            <a:solidFill>
              <a:schemeClr val="lt2"/>
            </a:solidFill>
            <a:ln cap="flat" cmpd="sng" w="82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9050" lIns="79050" spcFirstLastPara="1" rIns="79050" wrap="square" tIns="790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10"/>
            </a:p>
          </p:txBody>
        </p:sp>
        <p:sp>
          <p:nvSpPr>
            <p:cNvPr id="60" name="Google Shape;60;p13"/>
            <p:cNvSpPr txBox="1"/>
            <p:nvPr/>
          </p:nvSpPr>
          <p:spPr>
            <a:xfrm>
              <a:off x="2750631" y="2507097"/>
              <a:ext cx="1781400" cy="550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9050" lIns="79050" spcFirstLastPara="1" rIns="79050" wrap="square" tIns="7905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ja" sz="2056">
                  <a:solidFill>
                    <a:schemeClr val="dk2"/>
                  </a:solidFill>
                </a:rPr>
                <a:t>視線方向</a:t>
              </a:r>
              <a:endParaRPr sz="2056">
                <a:solidFill>
                  <a:schemeClr val="dk2"/>
                </a:solidFill>
              </a:endParaRPr>
            </a:p>
          </p:txBody>
        </p:sp>
      </p:grpSp>
      <p:cxnSp>
        <p:nvCxnSpPr>
          <p:cNvPr id="61" name="Google Shape;61;p13"/>
          <p:cNvCxnSpPr/>
          <p:nvPr/>
        </p:nvCxnSpPr>
        <p:spPr>
          <a:xfrm rot="10800000">
            <a:off x="2360600" y="1651950"/>
            <a:ext cx="24300" cy="1809600"/>
          </a:xfrm>
          <a:prstGeom prst="straightConnector1">
            <a:avLst/>
          </a:prstGeom>
          <a:noFill/>
          <a:ln cap="flat" cmpd="sng" w="76200">
            <a:solidFill>
              <a:schemeClr val="accent4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62" name="Google Shape;62;p13"/>
          <p:cNvSpPr txBox="1"/>
          <p:nvPr/>
        </p:nvSpPr>
        <p:spPr>
          <a:xfrm>
            <a:off x="2531000" y="2571750"/>
            <a:ext cx="2299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000">
                <a:solidFill>
                  <a:schemeClr val="accent4"/>
                </a:solidFill>
              </a:rPr>
              <a:t>現実空間の経</a:t>
            </a:r>
            <a:r>
              <a:rPr b="1" lang="ja" sz="2000">
                <a:solidFill>
                  <a:schemeClr val="accent4"/>
                </a:solidFill>
              </a:rPr>
              <a:t>路</a:t>
            </a:r>
            <a:endParaRPr b="1" sz="2000">
              <a:solidFill>
                <a:schemeClr val="accent4"/>
              </a:solidFill>
            </a:endParaRPr>
          </a:p>
        </p:txBody>
      </p:sp>
      <p:sp>
        <p:nvSpPr>
          <p:cNvPr id="63" name="Google Shape;63;p13"/>
          <p:cNvSpPr txBox="1"/>
          <p:nvPr/>
        </p:nvSpPr>
        <p:spPr>
          <a:xfrm>
            <a:off x="2843600" y="1093100"/>
            <a:ext cx="5456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64" name="Google Shape;64;p13"/>
          <p:cNvSpPr txBox="1"/>
          <p:nvPr/>
        </p:nvSpPr>
        <p:spPr>
          <a:xfrm>
            <a:off x="2587850" y="847725"/>
            <a:ext cx="2140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000">
                <a:solidFill>
                  <a:schemeClr val="accent1"/>
                </a:solidFill>
              </a:rPr>
              <a:t>仮想</a:t>
            </a:r>
            <a:r>
              <a:rPr b="1" lang="ja" sz="2000">
                <a:solidFill>
                  <a:schemeClr val="accent1"/>
                </a:solidFill>
              </a:rPr>
              <a:t>空間の経路</a:t>
            </a:r>
            <a:endParaRPr b="1" sz="200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9" name="Google Shape;69;p14"/>
          <p:cNvGrpSpPr/>
          <p:nvPr/>
        </p:nvGrpSpPr>
        <p:grpSpPr>
          <a:xfrm>
            <a:off x="1571081" y="3780525"/>
            <a:ext cx="2102395" cy="1236560"/>
            <a:chOff x="1550350" y="2507105"/>
            <a:chExt cx="3058474" cy="1798895"/>
          </a:xfrm>
        </p:grpSpPr>
        <p:sp>
          <p:nvSpPr>
            <p:cNvPr id="70" name="Google Shape;70;p14"/>
            <p:cNvSpPr/>
            <p:nvPr/>
          </p:nvSpPr>
          <p:spPr>
            <a:xfrm>
              <a:off x="1550350" y="3557000"/>
              <a:ext cx="1911900" cy="665100"/>
            </a:xfrm>
            <a:prstGeom prst="roundRect">
              <a:avLst>
                <a:gd fmla="val 37494" name="adj"/>
              </a:avLst>
            </a:prstGeom>
            <a:solidFill>
              <a:srgbClr val="999999"/>
            </a:solidFill>
            <a:ln cap="flat" cmpd="sng" w="65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2850" lIns="62850" spcFirstLastPara="1" rIns="62850" wrap="square" tIns="628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62"/>
            </a:p>
          </p:txBody>
        </p:sp>
        <p:sp>
          <p:nvSpPr>
            <p:cNvPr id="71" name="Google Shape;71;p14"/>
            <p:cNvSpPr/>
            <p:nvPr/>
          </p:nvSpPr>
          <p:spPr>
            <a:xfrm>
              <a:off x="2002425" y="2996725"/>
              <a:ext cx="997500" cy="467700"/>
            </a:xfrm>
            <a:prstGeom prst="roundRect">
              <a:avLst>
                <a:gd fmla="val 16667" name="adj"/>
              </a:avLst>
            </a:prstGeom>
            <a:solidFill>
              <a:schemeClr val="dk2"/>
            </a:solidFill>
            <a:ln cap="flat" cmpd="sng" w="65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2850" lIns="62850" spcFirstLastPara="1" rIns="62850" wrap="square" tIns="628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62"/>
            </a:p>
          </p:txBody>
        </p:sp>
        <p:sp>
          <p:nvSpPr>
            <p:cNvPr id="72" name="Google Shape;72;p14"/>
            <p:cNvSpPr/>
            <p:nvPr/>
          </p:nvSpPr>
          <p:spPr>
            <a:xfrm>
              <a:off x="1924425" y="3048700"/>
              <a:ext cx="1153500" cy="1257300"/>
            </a:xfrm>
            <a:prstGeom prst="ellipse">
              <a:avLst/>
            </a:prstGeom>
            <a:solidFill>
              <a:schemeClr val="lt2"/>
            </a:solidFill>
            <a:ln cap="flat" cmpd="sng" w="65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2850" lIns="62850" spcFirstLastPara="1" rIns="62850" wrap="square" tIns="628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ja" sz="1121"/>
                <a:t>ユーザ</a:t>
              </a:r>
              <a:endParaRPr sz="1121"/>
            </a:p>
          </p:txBody>
        </p:sp>
        <p:sp>
          <p:nvSpPr>
            <p:cNvPr id="73" name="Google Shape;73;p14"/>
            <p:cNvSpPr/>
            <p:nvPr/>
          </p:nvSpPr>
          <p:spPr>
            <a:xfrm>
              <a:off x="2251725" y="2571750"/>
              <a:ext cx="498900" cy="332400"/>
            </a:xfrm>
            <a:prstGeom prst="upArrow">
              <a:avLst>
                <a:gd fmla="val 50000" name="adj1"/>
                <a:gd fmla="val 50000" name="adj2"/>
              </a:avLst>
            </a:prstGeom>
            <a:solidFill>
              <a:schemeClr val="lt2"/>
            </a:solidFill>
            <a:ln cap="flat" cmpd="sng" w="65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2850" lIns="62850" spcFirstLastPara="1" rIns="62850" wrap="square" tIns="628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62"/>
            </a:p>
          </p:txBody>
        </p:sp>
        <p:sp>
          <p:nvSpPr>
            <p:cNvPr id="74" name="Google Shape;74;p14"/>
            <p:cNvSpPr txBox="1"/>
            <p:nvPr/>
          </p:nvSpPr>
          <p:spPr>
            <a:xfrm>
              <a:off x="2750624" y="2507105"/>
              <a:ext cx="1858200" cy="596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2850" lIns="62850" spcFirstLastPara="1" rIns="62850" wrap="square" tIns="6285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ja" sz="1837">
                  <a:solidFill>
                    <a:schemeClr val="dk2"/>
                  </a:solidFill>
                </a:rPr>
                <a:t>視線方向</a:t>
              </a:r>
              <a:endParaRPr sz="1837">
                <a:solidFill>
                  <a:schemeClr val="dk2"/>
                </a:solidFill>
              </a:endParaRPr>
            </a:p>
          </p:txBody>
        </p:sp>
      </p:grpSp>
      <p:sp>
        <p:nvSpPr>
          <p:cNvPr id="75" name="Google Shape;75;p14"/>
          <p:cNvSpPr/>
          <p:nvPr/>
        </p:nvSpPr>
        <p:spPr>
          <a:xfrm>
            <a:off x="2210325" y="1614100"/>
            <a:ext cx="1277375" cy="2150140"/>
          </a:xfrm>
          <a:custGeom>
            <a:rect b="b" l="l" r="r" t="t"/>
            <a:pathLst>
              <a:path extrusionOk="0" h="118973" w="51095">
                <a:moveTo>
                  <a:pt x="324" y="118973"/>
                </a:moveTo>
                <a:cubicBezTo>
                  <a:pt x="387" y="114995"/>
                  <a:pt x="-623" y="104574"/>
                  <a:pt x="703" y="95102"/>
                </a:cubicBezTo>
                <a:cubicBezTo>
                  <a:pt x="2029" y="85630"/>
                  <a:pt x="3608" y="74264"/>
                  <a:pt x="8281" y="62139"/>
                </a:cubicBezTo>
                <a:cubicBezTo>
                  <a:pt x="12954" y="50015"/>
                  <a:pt x="21605" y="32712"/>
                  <a:pt x="28741" y="22355"/>
                </a:cubicBezTo>
                <a:cubicBezTo>
                  <a:pt x="35877" y="11999"/>
                  <a:pt x="47370" y="3726"/>
                  <a:pt x="51096" y="0"/>
                </a:cubicBezTo>
              </a:path>
            </a:pathLst>
          </a:custGeom>
          <a:noFill/>
          <a:ln cap="flat" cmpd="sng" w="76200">
            <a:solidFill>
              <a:schemeClr val="accent4"/>
            </a:solidFill>
            <a:prstDash val="solid"/>
            <a:round/>
            <a:headEnd len="med" w="med" type="none"/>
            <a:tailEnd len="med" w="med" type="stealth"/>
          </a:ln>
        </p:spPr>
      </p:sp>
      <p:cxnSp>
        <p:nvCxnSpPr>
          <p:cNvPr id="76" name="Google Shape;76;p14"/>
          <p:cNvCxnSpPr/>
          <p:nvPr/>
        </p:nvCxnSpPr>
        <p:spPr>
          <a:xfrm flipH="1" rot="10800000">
            <a:off x="2199475" y="808850"/>
            <a:ext cx="9600" cy="2946000"/>
          </a:xfrm>
          <a:prstGeom prst="straightConnector1">
            <a:avLst/>
          </a:prstGeom>
          <a:noFill/>
          <a:ln cap="flat" cmpd="sng" w="76200">
            <a:solidFill>
              <a:schemeClr val="accent1"/>
            </a:solidFill>
            <a:prstDash val="dash"/>
            <a:round/>
            <a:headEnd len="med" w="med" type="none"/>
            <a:tailEnd len="med" w="med" type="stealth"/>
          </a:ln>
        </p:spPr>
      </p:cxnSp>
      <p:sp>
        <p:nvSpPr>
          <p:cNvPr id="77" name="Google Shape;77;p14"/>
          <p:cNvSpPr txBox="1"/>
          <p:nvPr/>
        </p:nvSpPr>
        <p:spPr>
          <a:xfrm>
            <a:off x="2540450" y="2458325"/>
            <a:ext cx="2300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000">
                <a:solidFill>
                  <a:schemeClr val="accent4"/>
                </a:solidFill>
              </a:rPr>
              <a:t>現実空間の経路</a:t>
            </a:r>
            <a:endParaRPr b="1" sz="2000">
              <a:solidFill>
                <a:schemeClr val="accent4"/>
              </a:solidFill>
            </a:endParaRPr>
          </a:p>
        </p:txBody>
      </p:sp>
      <p:sp>
        <p:nvSpPr>
          <p:cNvPr id="78" name="Google Shape;78;p14"/>
          <p:cNvSpPr txBox="1"/>
          <p:nvPr/>
        </p:nvSpPr>
        <p:spPr>
          <a:xfrm>
            <a:off x="2351050" y="828775"/>
            <a:ext cx="2074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000">
                <a:solidFill>
                  <a:schemeClr val="accent1"/>
                </a:solidFill>
              </a:rPr>
              <a:t>仮想空間の経路</a:t>
            </a:r>
            <a:endParaRPr b="1" sz="200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3" name="Google Shape;83;p15"/>
          <p:cNvGrpSpPr/>
          <p:nvPr/>
        </p:nvGrpSpPr>
        <p:grpSpPr>
          <a:xfrm rot="-3087119">
            <a:off x="4153282" y="1824708"/>
            <a:ext cx="1499708" cy="1147934"/>
            <a:chOff x="707022" y="2477174"/>
            <a:chExt cx="2755228" cy="2007853"/>
          </a:xfrm>
        </p:grpSpPr>
        <p:sp>
          <p:nvSpPr>
            <p:cNvPr id="84" name="Google Shape;84;p15"/>
            <p:cNvSpPr/>
            <p:nvPr/>
          </p:nvSpPr>
          <p:spPr>
            <a:xfrm>
              <a:off x="1550350" y="3557000"/>
              <a:ext cx="1911900" cy="665100"/>
            </a:xfrm>
            <a:prstGeom prst="roundRect">
              <a:avLst>
                <a:gd fmla="val 37494" name="adj"/>
              </a:avLst>
            </a:prstGeom>
            <a:solidFill>
              <a:srgbClr val="999999"/>
            </a:solidFill>
            <a:ln cap="flat" cmpd="sng" w="51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9775" lIns="49775" spcFirstLastPara="1" rIns="49775" wrap="square" tIns="497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62"/>
            </a:p>
          </p:txBody>
        </p:sp>
        <p:sp>
          <p:nvSpPr>
            <p:cNvPr id="85" name="Google Shape;85;p15"/>
            <p:cNvSpPr/>
            <p:nvPr/>
          </p:nvSpPr>
          <p:spPr>
            <a:xfrm>
              <a:off x="2002425" y="2996725"/>
              <a:ext cx="997500" cy="467700"/>
            </a:xfrm>
            <a:prstGeom prst="roundRect">
              <a:avLst>
                <a:gd fmla="val 16667" name="adj"/>
              </a:avLst>
            </a:prstGeom>
            <a:solidFill>
              <a:schemeClr val="dk2"/>
            </a:solidFill>
            <a:ln cap="flat" cmpd="sng" w="51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9775" lIns="49775" spcFirstLastPara="1" rIns="49775" wrap="square" tIns="497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62"/>
            </a:p>
          </p:txBody>
        </p:sp>
        <p:sp>
          <p:nvSpPr>
            <p:cNvPr id="86" name="Google Shape;86;p15"/>
            <p:cNvSpPr/>
            <p:nvPr/>
          </p:nvSpPr>
          <p:spPr>
            <a:xfrm rot="2854760">
              <a:off x="1918873" y="3052187"/>
              <a:ext cx="1164300" cy="1250478"/>
            </a:xfrm>
            <a:prstGeom prst="ellipse">
              <a:avLst/>
            </a:prstGeom>
            <a:solidFill>
              <a:schemeClr val="lt2"/>
            </a:solidFill>
            <a:ln cap="flat" cmpd="sng" w="51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9775" lIns="49775" spcFirstLastPara="1" rIns="49775" wrap="square" tIns="497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ja" sz="888"/>
                <a:t>ユーザ</a:t>
              </a:r>
              <a:endParaRPr sz="888"/>
            </a:p>
          </p:txBody>
        </p:sp>
        <p:sp>
          <p:nvSpPr>
            <p:cNvPr id="87" name="Google Shape;87;p15"/>
            <p:cNvSpPr/>
            <p:nvPr/>
          </p:nvSpPr>
          <p:spPr>
            <a:xfrm>
              <a:off x="2251725" y="2571750"/>
              <a:ext cx="498900" cy="332400"/>
            </a:xfrm>
            <a:prstGeom prst="upArrow">
              <a:avLst>
                <a:gd fmla="val 50000" name="adj1"/>
                <a:gd fmla="val 50000" name="adj2"/>
              </a:avLst>
            </a:prstGeom>
            <a:solidFill>
              <a:schemeClr val="lt2"/>
            </a:solidFill>
            <a:ln cap="flat" cmpd="sng" w="51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9775" lIns="49775" spcFirstLastPara="1" rIns="49775" wrap="square" tIns="497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62"/>
            </a:p>
          </p:txBody>
        </p:sp>
        <p:sp>
          <p:nvSpPr>
            <p:cNvPr id="88" name="Google Shape;88;p15"/>
            <p:cNvSpPr txBox="1"/>
            <p:nvPr/>
          </p:nvSpPr>
          <p:spPr>
            <a:xfrm>
              <a:off x="707022" y="2477174"/>
              <a:ext cx="1858200" cy="567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9775" lIns="49775" spcFirstLastPara="1" rIns="49775" wrap="square" tIns="4977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ja" sz="1454">
                  <a:solidFill>
                    <a:schemeClr val="dk2"/>
                  </a:solidFill>
                </a:rPr>
                <a:t>視線方向</a:t>
              </a:r>
              <a:endParaRPr sz="1454">
                <a:solidFill>
                  <a:schemeClr val="dk2"/>
                </a:solidFill>
              </a:endParaRPr>
            </a:p>
          </p:txBody>
        </p:sp>
      </p:grpSp>
      <p:sp>
        <p:nvSpPr>
          <p:cNvPr id="89" name="Google Shape;89;p15"/>
          <p:cNvSpPr/>
          <p:nvPr/>
        </p:nvSpPr>
        <p:spPr>
          <a:xfrm flipH="1">
            <a:off x="5458450" y="2526050"/>
            <a:ext cx="1277375" cy="1679899"/>
          </a:xfrm>
          <a:custGeom>
            <a:rect b="b" l="l" r="r" t="t"/>
            <a:pathLst>
              <a:path extrusionOk="0" h="118973" w="51095">
                <a:moveTo>
                  <a:pt x="324" y="118973"/>
                </a:moveTo>
                <a:cubicBezTo>
                  <a:pt x="387" y="114995"/>
                  <a:pt x="-623" y="104574"/>
                  <a:pt x="703" y="95102"/>
                </a:cubicBezTo>
                <a:cubicBezTo>
                  <a:pt x="2029" y="85630"/>
                  <a:pt x="3608" y="74264"/>
                  <a:pt x="8281" y="62139"/>
                </a:cubicBezTo>
                <a:cubicBezTo>
                  <a:pt x="12954" y="50015"/>
                  <a:pt x="21605" y="32712"/>
                  <a:pt x="28741" y="22355"/>
                </a:cubicBezTo>
                <a:cubicBezTo>
                  <a:pt x="35877" y="11999"/>
                  <a:pt x="47370" y="3726"/>
                  <a:pt x="51096" y="0"/>
                </a:cubicBezTo>
              </a:path>
            </a:pathLst>
          </a:cu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stealth"/>
          </a:ln>
        </p:spPr>
      </p:sp>
      <p:cxnSp>
        <p:nvCxnSpPr>
          <p:cNvPr id="90" name="Google Shape;90;p15"/>
          <p:cNvCxnSpPr/>
          <p:nvPr/>
        </p:nvCxnSpPr>
        <p:spPr>
          <a:xfrm flipH="1" rot="10800000">
            <a:off x="6727850" y="1720775"/>
            <a:ext cx="6900" cy="2442600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dash"/>
            <a:round/>
            <a:headEnd len="med" w="med" type="none"/>
            <a:tailEnd len="med" w="med" type="stealth"/>
          </a:ln>
        </p:spPr>
      </p:cxnSp>
      <p:sp>
        <p:nvSpPr>
          <p:cNvPr id="91" name="Google Shape;91;p15"/>
          <p:cNvSpPr txBox="1"/>
          <p:nvPr/>
        </p:nvSpPr>
        <p:spPr>
          <a:xfrm>
            <a:off x="4674500" y="3232475"/>
            <a:ext cx="23001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700">
                <a:solidFill>
                  <a:schemeClr val="accent4"/>
                </a:solidFill>
              </a:rPr>
              <a:t>現実空間の経路</a:t>
            </a:r>
            <a:endParaRPr b="1" sz="1700">
              <a:solidFill>
                <a:schemeClr val="accent4"/>
              </a:solidFill>
            </a:endParaRPr>
          </a:p>
        </p:txBody>
      </p:sp>
      <p:sp>
        <p:nvSpPr>
          <p:cNvPr id="92" name="Google Shape;92;p15"/>
          <p:cNvSpPr txBox="1"/>
          <p:nvPr/>
        </p:nvSpPr>
        <p:spPr>
          <a:xfrm>
            <a:off x="6146250" y="1333525"/>
            <a:ext cx="20742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700">
                <a:solidFill>
                  <a:schemeClr val="accent1"/>
                </a:solidFill>
              </a:rPr>
              <a:t>仮想空間の経路</a:t>
            </a:r>
            <a:endParaRPr b="1" sz="1700">
              <a:solidFill>
                <a:schemeClr val="accent1"/>
              </a:solidFill>
            </a:endParaRPr>
          </a:p>
        </p:txBody>
      </p:sp>
      <p:sp>
        <p:nvSpPr>
          <p:cNvPr id="93" name="Google Shape;93;p15"/>
          <p:cNvSpPr/>
          <p:nvPr/>
        </p:nvSpPr>
        <p:spPr>
          <a:xfrm>
            <a:off x="6634413" y="3629050"/>
            <a:ext cx="167400" cy="1710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15"/>
          <p:cNvSpPr txBox="1"/>
          <p:nvPr/>
        </p:nvSpPr>
        <p:spPr>
          <a:xfrm>
            <a:off x="6813463" y="3506800"/>
            <a:ext cx="10041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FF0000"/>
                </a:solidFill>
              </a:rPr>
              <a:t>視覚効果</a:t>
            </a:r>
            <a:endParaRPr b="1" sz="1500">
              <a:solidFill>
                <a:srgbClr val="FF0000"/>
              </a:solidFill>
            </a:endParaRPr>
          </a:p>
        </p:txBody>
      </p:sp>
      <p:sp>
        <p:nvSpPr>
          <p:cNvPr id="95" name="Google Shape;95;p15"/>
          <p:cNvSpPr/>
          <p:nvPr/>
        </p:nvSpPr>
        <p:spPr>
          <a:xfrm>
            <a:off x="6646063" y="2939225"/>
            <a:ext cx="167400" cy="1710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15"/>
          <p:cNvSpPr txBox="1"/>
          <p:nvPr/>
        </p:nvSpPr>
        <p:spPr>
          <a:xfrm>
            <a:off x="6813474" y="2816975"/>
            <a:ext cx="10041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FF0000"/>
                </a:solidFill>
              </a:rPr>
              <a:t>視覚効果</a:t>
            </a:r>
            <a:endParaRPr b="1" sz="1500">
              <a:solidFill>
                <a:srgbClr val="FF0000"/>
              </a:solidFill>
            </a:endParaRPr>
          </a:p>
        </p:txBody>
      </p:sp>
      <p:sp>
        <p:nvSpPr>
          <p:cNvPr id="97" name="Google Shape;97;p15"/>
          <p:cNvSpPr/>
          <p:nvPr/>
        </p:nvSpPr>
        <p:spPr>
          <a:xfrm>
            <a:off x="6646063" y="2281725"/>
            <a:ext cx="167400" cy="1710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5"/>
          <p:cNvSpPr txBox="1"/>
          <p:nvPr/>
        </p:nvSpPr>
        <p:spPr>
          <a:xfrm>
            <a:off x="6813475" y="2159475"/>
            <a:ext cx="10041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FF0000"/>
                </a:solidFill>
              </a:rPr>
              <a:t>視覚効果</a:t>
            </a:r>
            <a:endParaRPr b="1" sz="1500">
              <a:solidFill>
                <a:srgbClr val="FF0000"/>
              </a:solidFill>
            </a:endParaRPr>
          </a:p>
        </p:txBody>
      </p:sp>
      <p:sp>
        <p:nvSpPr>
          <p:cNvPr id="99" name="Google Shape;99;p15"/>
          <p:cNvSpPr/>
          <p:nvPr/>
        </p:nvSpPr>
        <p:spPr>
          <a:xfrm>
            <a:off x="4868850" y="1020450"/>
            <a:ext cx="1277400" cy="546600"/>
          </a:xfrm>
          <a:prstGeom prst="wedgeRoundRectCallout">
            <a:avLst>
              <a:gd fmla="val -29703" name="adj1"/>
              <a:gd fmla="val 103938" name="adj2"/>
              <a:gd fmla="val 0" name="adj3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2点</a:t>
            </a:r>
            <a:r>
              <a:rPr lang="ja"/>
              <a:t>？</a:t>
            </a:r>
            <a:endParaRPr/>
          </a:p>
        </p:txBody>
      </p:sp>
      <p:grpSp>
        <p:nvGrpSpPr>
          <p:cNvPr id="100" name="Google Shape;100;p15"/>
          <p:cNvGrpSpPr/>
          <p:nvPr/>
        </p:nvGrpSpPr>
        <p:grpSpPr>
          <a:xfrm rot="-3087119">
            <a:off x="273482" y="1586808"/>
            <a:ext cx="1499708" cy="1147934"/>
            <a:chOff x="707022" y="2477174"/>
            <a:chExt cx="2755228" cy="2007853"/>
          </a:xfrm>
        </p:grpSpPr>
        <p:sp>
          <p:nvSpPr>
            <p:cNvPr id="101" name="Google Shape;101;p15"/>
            <p:cNvSpPr/>
            <p:nvPr/>
          </p:nvSpPr>
          <p:spPr>
            <a:xfrm>
              <a:off x="1550350" y="3557000"/>
              <a:ext cx="1911900" cy="665100"/>
            </a:xfrm>
            <a:prstGeom prst="roundRect">
              <a:avLst>
                <a:gd fmla="val 37494" name="adj"/>
              </a:avLst>
            </a:prstGeom>
            <a:solidFill>
              <a:srgbClr val="999999"/>
            </a:solidFill>
            <a:ln cap="flat" cmpd="sng" w="51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9775" lIns="49775" spcFirstLastPara="1" rIns="49775" wrap="square" tIns="497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62"/>
            </a:p>
          </p:txBody>
        </p:sp>
        <p:sp>
          <p:nvSpPr>
            <p:cNvPr id="102" name="Google Shape;102;p15"/>
            <p:cNvSpPr/>
            <p:nvPr/>
          </p:nvSpPr>
          <p:spPr>
            <a:xfrm>
              <a:off x="2002425" y="2996725"/>
              <a:ext cx="997500" cy="467700"/>
            </a:xfrm>
            <a:prstGeom prst="roundRect">
              <a:avLst>
                <a:gd fmla="val 16667" name="adj"/>
              </a:avLst>
            </a:prstGeom>
            <a:solidFill>
              <a:schemeClr val="dk2"/>
            </a:solidFill>
            <a:ln cap="flat" cmpd="sng" w="51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9775" lIns="49775" spcFirstLastPara="1" rIns="49775" wrap="square" tIns="497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62"/>
            </a:p>
          </p:txBody>
        </p:sp>
        <p:sp>
          <p:nvSpPr>
            <p:cNvPr id="103" name="Google Shape;103;p15"/>
            <p:cNvSpPr/>
            <p:nvPr/>
          </p:nvSpPr>
          <p:spPr>
            <a:xfrm rot="2854760">
              <a:off x="1918873" y="3052187"/>
              <a:ext cx="1164300" cy="1250478"/>
            </a:xfrm>
            <a:prstGeom prst="ellipse">
              <a:avLst/>
            </a:prstGeom>
            <a:solidFill>
              <a:schemeClr val="lt2"/>
            </a:solidFill>
            <a:ln cap="flat" cmpd="sng" w="51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9775" lIns="49775" spcFirstLastPara="1" rIns="49775" wrap="square" tIns="497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ja" sz="888"/>
                <a:t>ユーザ</a:t>
              </a:r>
              <a:endParaRPr sz="888"/>
            </a:p>
          </p:txBody>
        </p:sp>
        <p:sp>
          <p:nvSpPr>
            <p:cNvPr id="104" name="Google Shape;104;p15"/>
            <p:cNvSpPr/>
            <p:nvPr/>
          </p:nvSpPr>
          <p:spPr>
            <a:xfrm>
              <a:off x="2251725" y="2571750"/>
              <a:ext cx="498900" cy="332400"/>
            </a:xfrm>
            <a:prstGeom prst="upArrow">
              <a:avLst>
                <a:gd fmla="val 50000" name="adj1"/>
                <a:gd fmla="val 50000" name="adj2"/>
              </a:avLst>
            </a:prstGeom>
            <a:solidFill>
              <a:schemeClr val="lt2"/>
            </a:solidFill>
            <a:ln cap="flat" cmpd="sng" w="51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9775" lIns="49775" spcFirstLastPara="1" rIns="49775" wrap="square" tIns="497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62"/>
            </a:p>
          </p:txBody>
        </p:sp>
        <p:sp>
          <p:nvSpPr>
            <p:cNvPr id="105" name="Google Shape;105;p15"/>
            <p:cNvSpPr txBox="1"/>
            <p:nvPr/>
          </p:nvSpPr>
          <p:spPr>
            <a:xfrm>
              <a:off x="707022" y="2477174"/>
              <a:ext cx="1858200" cy="567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9775" lIns="49775" spcFirstLastPara="1" rIns="49775" wrap="square" tIns="4977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ja" sz="1454">
                  <a:solidFill>
                    <a:schemeClr val="dk2"/>
                  </a:solidFill>
                </a:rPr>
                <a:t>視線方向</a:t>
              </a:r>
              <a:endParaRPr sz="1454">
                <a:solidFill>
                  <a:schemeClr val="dk2"/>
                </a:solidFill>
              </a:endParaRPr>
            </a:p>
          </p:txBody>
        </p:sp>
      </p:grpSp>
      <p:sp>
        <p:nvSpPr>
          <p:cNvPr id="106" name="Google Shape;106;p15"/>
          <p:cNvSpPr/>
          <p:nvPr/>
        </p:nvSpPr>
        <p:spPr>
          <a:xfrm flipH="1">
            <a:off x="1578650" y="2288150"/>
            <a:ext cx="1277375" cy="1875312"/>
          </a:xfrm>
          <a:custGeom>
            <a:rect b="b" l="l" r="r" t="t"/>
            <a:pathLst>
              <a:path extrusionOk="0" h="118973" w="51095">
                <a:moveTo>
                  <a:pt x="324" y="118973"/>
                </a:moveTo>
                <a:cubicBezTo>
                  <a:pt x="387" y="114995"/>
                  <a:pt x="-623" y="104574"/>
                  <a:pt x="703" y="95102"/>
                </a:cubicBezTo>
                <a:cubicBezTo>
                  <a:pt x="2029" y="85630"/>
                  <a:pt x="3608" y="74264"/>
                  <a:pt x="8281" y="62139"/>
                </a:cubicBezTo>
                <a:cubicBezTo>
                  <a:pt x="12954" y="50015"/>
                  <a:pt x="21605" y="32712"/>
                  <a:pt x="28741" y="22355"/>
                </a:cubicBezTo>
                <a:cubicBezTo>
                  <a:pt x="35877" y="11999"/>
                  <a:pt x="47370" y="3726"/>
                  <a:pt x="51096" y="0"/>
                </a:cubicBezTo>
              </a:path>
            </a:pathLst>
          </a:cu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stealth"/>
          </a:ln>
        </p:spPr>
      </p:sp>
      <p:cxnSp>
        <p:nvCxnSpPr>
          <p:cNvPr id="107" name="Google Shape;107;p15"/>
          <p:cNvCxnSpPr/>
          <p:nvPr/>
        </p:nvCxnSpPr>
        <p:spPr>
          <a:xfrm flipH="1" rot="10800000">
            <a:off x="2847450" y="1483050"/>
            <a:ext cx="7500" cy="2643900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dash"/>
            <a:round/>
            <a:headEnd len="med" w="med" type="none"/>
            <a:tailEnd len="med" w="med" type="stealth"/>
          </a:ln>
        </p:spPr>
      </p:cxnSp>
      <p:sp>
        <p:nvSpPr>
          <p:cNvPr id="108" name="Google Shape;108;p15"/>
          <p:cNvSpPr txBox="1"/>
          <p:nvPr/>
        </p:nvSpPr>
        <p:spPr>
          <a:xfrm>
            <a:off x="794700" y="2994575"/>
            <a:ext cx="23001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700">
                <a:solidFill>
                  <a:schemeClr val="accent4"/>
                </a:solidFill>
              </a:rPr>
              <a:t>現実空間の経路</a:t>
            </a:r>
            <a:endParaRPr b="1" sz="1700">
              <a:solidFill>
                <a:schemeClr val="accent4"/>
              </a:solidFill>
            </a:endParaRPr>
          </a:p>
        </p:txBody>
      </p:sp>
      <p:sp>
        <p:nvSpPr>
          <p:cNvPr id="109" name="Google Shape;109;p15"/>
          <p:cNvSpPr txBox="1"/>
          <p:nvPr/>
        </p:nvSpPr>
        <p:spPr>
          <a:xfrm>
            <a:off x="2266450" y="1095625"/>
            <a:ext cx="20742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700">
                <a:solidFill>
                  <a:schemeClr val="accent1"/>
                </a:solidFill>
              </a:rPr>
              <a:t>仮想空間の経路</a:t>
            </a:r>
            <a:endParaRPr b="1" sz="1700">
              <a:solidFill>
                <a:schemeClr val="accent1"/>
              </a:solidFill>
            </a:endParaRPr>
          </a:p>
        </p:txBody>
      </p:sp>
      <p:sp>
        <p:nvSpPr>
          <p:cNvPr id="110" name="Google Shape;110;p15"/>
          <p:cNvSpPr/>
          <p:nvPr/>
        </p:nvSpPr>
        <p:spPr>
          <a:xfrm>
            <a:off x="989050" y="782550"/>
            <a:ext cx="1277400" cy="546600"/>
          </a:xfrm>
          <a:prstGeom prst="wedgeRoundRectCallout">
            <a:avLst>
              <a:gd fmla="val -29703" name="adj1"/>
              <a:gd fmla="val 103938" name="adj2"/>
              <a:gd fmla="val 0" name="adj3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5点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5" name="Google Shape;115;p16"/>
          <p:cNvGrpSpPr/>
          <p:nvPr/>
        </p:nvGrpSpPr>
        <p:grpSpPr>
          <a:xfrm>
            <a:off x="882531" y="2352047"/>
            <a:ext cx="1689337" cy="1236564"/>
            <a:chOff x="1550350" y="2507100"/>
            <a:chExt cx="2457575" cy="1798900"/>
          </a:xfrm>
        </p:grpSpPr>
        <p:sp>
          <p:nvSpPr>
            <p:cNvPr id="116" name="Google Shape;116;p16"/>
            <p:cNvSpPr/>
            <p:nvPr/>
          </p:nvSpPr>
          <p:spPr>
            <a:xfrm>
              <a:off x="1550350" y="3557000"/>
              <a:ext cx="1911900" cy="665100"/>
            </a:xfrm>
            <a:prstGeom prst="roundRect">
              <a:avLst>
                <a:gd fmla="val 37494" name="adj"/>
              </a:avLst>
            </a:prstGeom>
            <a:solidFill>
              <a:srgbClr val="999999"/>
            </a:solidFill>
            <a:ln cap="flat" cmpd="sng" w="65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2850" lIns="62850" spcFirstLastPara="1" rIns="62850" wrap="square" tIns="628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62"/>
            </a:p>
          </p:txBody>
        </p:sp>
        <p:sp>
          <p:nvSpPr>
            <p:cNvPr id="117" name="Google Shape;117;p16"/>
            <p:cNvSpPr/>
            <p:nvPr/>
          </p:nvSpPr>
          <p:spPr>
            <a:xfrm>
              <a:off x="2002425" y="2996725"/>
              <a:ext cx="997500" cy="467700"/>
            </a:xfrm>
            <a:prstGeom prst="roundRect">
              <a:avLst>
                <a:gd fmla="val 16667" name="adj"/>
              </a:avLst>
            </a:prstGeom>
            <a:solidFill>
              <a:schemeClr val="dk2"/>
            </a:solidFill>
            <a:ln cap="flat" cmpd="sng" w="65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2850" lIns="62850" spcFirstLastPara="1" rIns="62850" wrap="square" tIns="628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62"/>
            </a:p>
          </p:txBody>
        </p:sp>
        <p:sp>
          <p:nvSpPr>
            <p:cNvPr id="118" name="Google Shape;118;p16"/>
            <p:cNvSpPr/>
            <p:nvPr/>
          </p:nvSpPr>
          <p:spPr>
            <a:xfrm>
              <a:off x="1924425" y="3048700"/>
              <a:ext cx="1153500" cy="1257300"/>
            </a:xfrm>
            <a:prstGeom prst="ellipse">
              <a:avLst/>
            </a:prstGeom>
            <a:solidFill>
              <a:schemeClr val="lt2"/>
            </a:solidFill>
            <a:ln cap="flat" cmpd="sng" w="65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2850" lIns="62850" spcFirstLastPara="1" rIns="62850" wrap="square" tIns="628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ja" sz="1121"/>
                <a:t>ユーザ</a:t>
              </a:r>
              <a:endParaRPr sz="1121"/>
            </a:p>
          </p:txBody>
        </p:sp>
        <p:sp>
          <p:nvSpPr>
            <p:cNvPr id="119" name="Google Shape;119;p16"/>
            <p:cNvSpPr/>
            <p:nvPr/>
          </p:nvSpPr>
          <p:spPr>
            <a:xfrm>
              <a:off x="2251725" y="2571750"/>
              <a:ext cx="498900" cy="332400"/>
            </a:xfrm>
            <a:prstGeom prst="upArrow">
              <a:avLst>
                <a:gd fmla="val 50000" name="adj1"/>
                <a:gd fmla="val 50000" name="adj2"/>
              </a:avLst>
            </a:prstGeom>
            <a:solidFill>
              <a:schemeClr val="lt2"/>
            </a:solidFill>
            <a:ln cap="flat" cmpd="sng" w="65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2850" lIns="62850" spcFirstLastPara="1" rIns="62850" wrap="square" tIns="628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62"/>
            </a:p>
          </p:txBody>
        </p:sp>
        <p:sp>
          <p:nvSpPr>
            <p:cNvPr id="120" name="Google Shape;120;p16"/>
            <p:cNvSpPr txBox="1"/>
            <p:nvPr/>
          </p:nvSpPr>
          <p:spPr>
            <a:xfrm>
              <a:off x="2750625" y="2507100"/>
              <a:ext cx="1257300" cy="50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2850" lIns="62850" spcFirstLastPara="1" rIns="62850" wrap="square" tIns="6285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ja" sz="1437">
                  <a:solidFill>
                    <a:schemeClr val="dk2"/>
                  </a:solidFill>
                </a:rPr>
                <a:t>視線方向</a:t>
              </a:r>
              <a:endParaRPr sz="1437">
                <a:solidFill>
                  <a:schemeClr val="dk2"/>
                </a:solidFill>
              </a:endParaRPr>
            </a:p>
          </p:txBody>
        </p:sp>
      </p:grpSp>
      <p:sp>
        <p:nvSpPr>
          <p:cNvPr id="121" name="Google Shape;121;p16"/>
          <p:cNvSpPr/>
          <p:nvPr/>
        </p:nvSpPr>
        <p:spPr>
          <a:xfrm>
            <a:off x="1510950" y="1862225"/>
            <a:ext cx="1290175" cy="2519650"/>
          </a:xfrm>
          <a:custGeom>
            <a:rect b="b" l="l" r="r" t="t"/>
            <a:pathLst>
              <a:path extrusionOk="0" h="100786" w="51607">
                <a:moveTo>
                  <a:pt x="379" y="0"/>
                </a:moveTo>
                <a:cubicBezTo>
                  <a:pt x="3536" y="568"/>
                  <a:pt x="13135" y="821"/>
                  <a:pt x="19323" y="3410"/>
                </a:cubicBezTo>
                <a:cubicBezTo>
                  <a:pt x="25512" y="5999"/>
                  <a:pt x="32774" y="10798"/>
                  <a:pt x="37510" y="15534"/>
                </a:cubicBezTo>
                <a:cubicBezTo>
                  <a:pt x="42246" y="20270"/>
                  <a:pt x="45404" y="25196"/>
                  <a:pt x="47740" y="31827"/>
                </a:cubicBezTo>
                <a:cubicBezTo>
                  <a:pt x="50077" y="38458"/>
                  <a:pt x="51845" y="48245"/>
                  <a:pt x="51529" y="55318"/>
                </a:cubicBezTo>
                <a:cubicBezTo>
                  <a:pt x="51213" y="62391"/>
                  <a:pt x="48751" y="68769"/>
                  <a:pt x="45846" y="74263"/>
                </a:cubicBezTo>
                <a:cubicBezTo>
                  <a:pt x="42941" y="79757"/>
                  <a:pt x="38521" y="84367"/>
                  <a:pt x="34100" y="88282"/>
                </a:cubicBezTo>
                <a:cubicBezTo>
                  <a:pt x="29680" y="92197"/>
                  <a:pt x="25006" y="95670"/>
                  <a:pt x="19323" y="97754"/>
                </a:cubicBezTo>
                <a:cubicBezTo>
                  <a:pt x="13640" y="99838"/>
                  <a:pt x="3221" y="100281"/>
                  <a:pt x="0" y="100786"/>
                </a:cubicBezTo>
              </a:path>
            </a:pathLst>
          </a:custGeom>
          <a:noFill/>
          <a:ln cap="flat" cmpd="sng" w="76200">
            <a:solidFill>
              <a:schemeClr val="accent4"/>
            </a:solidFill>
            <a:prstDash val="solid"/>
            <a:round/>
            <a:headEnd len="med" w="med" type="none"/>
            <a:tailEnd len="med" w="med" type="stealth"/>
          </a:ln>
        </p:spPr>
      </p:sp>
      <p:sp>
        <p:nvSpPr>
          <p:cNvPr id="122" name="Google Shape;122;p16"/>
          <p:cNvSpPr/>
          <p:nvPr/>
        </p:nvSpPr>
        <p:spPr>
          <a:xfrm>
            <a:off x="1548825" y="1843275"/>
            <a:ext cx="1270875" cy="1439800"/>
          </a:xfrm>
          <a:custGeom>
            <a:rect b="b" l="l" r="r" t="t"/>
            <a:pathLst>
              <a:path extrusionOk="0" h="57592" w="50835">
                <a:moveTo>
                  <a:pt x="0" y="0"/>
                </a:moveTo>
                <a:cubicBezTo>
                  <a:pt x="2842" y="505"/>
                  <a:pt x="11178" y="631"/>
                  <a:pt x="17051" y="3031"/>
                </a:cubicBezTo>
                <a:cubicBezTo>
                  <a:pt x="22924" y="5431"/>
                  <a:pt x="30564" y="9788"/>
                  <a:pt x="35237" y="14398"/>
                </a:cubicBezTo>
                <a:cubicBezTo>
                  <a:pt x="39910" y="19008"/>
                  <a:pt x="42563" y="24502"/>
                  <a:pt x="45089" y="30690"/>
                </a:cubicBezTo>
                <a:cubicBezTo>
                  <a:pt x="47615" y="36879"/>
                  <a:pt x="49509" y="47045"/>
                  <a:pt x="50393" y="51529"/>
                </a:cubicBezTo>
                <a:cubicBezTo>
                  <a:pt x="51277" y="56013"/>
                  <a:pt x="50393" y="56582"/>
                  <a:pt x="50393" y="57592"/>
                </a:cubicBezTo>
              </a:path>
            </a:pathLst>
          </a:custGeom>
          <a:noFill/>
          <a:ln cap="flat" cmpd="sng" w="76200">
            <a:solidFill>
              <a:schemeClr val="accent1"/>
            </a:solidFill>
            <a:prstDash val="dash"/>
            <a:round/>
            <a:headEnd len="med" w="med" type="none"/>
            <a:tailEnd len="med" w="med" type="stealth"/>
          </a:ln>
        </p:spPr>
      </p:sp>
      <p:sp>
        <p:nvSpPr>
          <p:cNvPr id="123" name="Google Shape;123;p16"/>
          <p:cNvSpPr txBox="1"/>
          <p:nvPr/>
        </p:nvSpPr>
        <p:spPr>
          <a:xfrm>
            <a:off x="2459600" y="1862225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000">
                <a:solidFill>
                  <a:schemeClr val="accent1"/>
                </a:solidFill>
              </a:rPr>
              <a:t>仮想空間の</a:t>
            </a:r>
            <a:r>
              <a:rPr b="1" lang="ja" sz="2000">
                <a:solidFill>
                  <a:schemeClr val="accent1"/>
                </a:solidFill>
              </a:rPr>
              <a:t>回転量</a:t>
            </a:r>
            <a:endParaRPr sz="1600"/>
          </a:p>
        </p:txBody>
      </p:sp>
      <p:sp>
        <p:nvSpPr>
          <p:cNvPr id="124" name="Google Shape;124;p16"/>
          <p:cNvSpPr txBox="1"/>
          <p:nvPr/>
        </p:nvSpPr>
        <p:spPr>
          <a:xfrm>
            <a:off x="2459600" y="3978075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000">
                <a:solidFill>
                  <a:schemeClr val="accent4"/>
                </a:solidFill>
              </a:rPr>
              <a:t>現実</a:t>
            </a:r>
            <a:r>
              <a:rPr b="1" lang="ja" sz="2000">
                <a:solidFill>
                  <a:schemeClr val="accent4"/>
                </a:solidFill>
              </a:rPr>
              <a:t>空間の回転量</a:t>
            </a:r>
            <a:endParaRPr sz="1600">
              <a:solidFill>
                <a:schemeClr val="accent4"/>
              </a:solidFill>
            </a:endParaRPr>
          </a:p>
        </p:txBody>
      </p:sp>
      <p:grpSp>
        <p:nvGrpSpPr>
          <p:cNvPr id="125" name="Google Shape;125;p16"/>
          <p:cNvGrpSpPr/>
          <p:nvPr/>
        </p:nvGrpSpPr>
        <p:grpSpPr>
          <a:xfrm rot="10800000">
            <a:off x="5101028" y="2468856"/>
            <a:ext cx="1696396" cy="1251904"/>
            <a:chOff x="994406" y="2484751"/>
            <a:chExt cx="2467844" cy="1821216"/>
          </a:xfrm>
        </p:grpSpPr>
        <p:sp>
          <p:nvSpPr>
            <p:cNvPr id="126" name="Google Shape;126;p16"/>
            <p:cNvSpPr/>
            <p:nvPr/>
          </p:nvSpPr>
          <p:spPr>
            <a:xfrm>
              <a:off x="1550350" y="3557000"/>
              <a:ext cx="1911900" cy="665100"/>
            </a:xfrm>
            <a:prstGeom prst="roundRect">
              <a:avLst>
                <a:gd fmla="val 37494" name="adj"/>
              </a:avLst>
            </a:prstGeom>
            <a:solidFill>
              <a:srgbClr val="999999"/>
            </a:solidFill>
            <a:ln cap="flat" cmpd="sng" w="65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2850" lIns="62850" spcFirstLastPara="1" rIns="62850" wrap="square" tIns="628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62"/>
            </a:p>
          </p:txBody>
        </p:sp>
        <p:sp>
          <p:nvSpPr>
            <p:cNvPr id="127" name="Google Shape;127;p16"/>
            <p:cNvSpPr/>
            <p:nvPr/>
          </p:nvSpPr>
          <p:spPr>
            <a:xfrm>
              <a:off x="2002425" y="2996725"/>
              <a:ext cx="997500" cy="467700"/>
            </a:xfrm>
            <a:prstGeom prst="roundRect">
              <a:avLst>
                <a:gd fmla="val 16667" name="adj"/>
              </a:avLst>
            </a:prstGeom>
            <a:solidFill>
              <a:schemeClr val="dk2"/>
            </a:solidFill>
            <a:ln cap="flat" cmpd="sng" w="65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2850" lIns="62850" spcFirstLastPara="1" rIns="62850" wrap="square" tIns="628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62"/>
            </a:p>
          </p:txBody>
        </p:sp>
        <p:sp>
          <p:nvSpPr>
            <p:cNvPr id="128" name="Google Shape;128;p16"/>
            <p:cNvSpPr/>
            <p:nvPr/>
          </p:nvSpPr>
          <p:spPr>
            <a:xfrm rot="10800000">
              <a:off x="1924521" y="3048667"/>
              <a:ext cx="1153500" cy="1257300"/>
            </a:xfrm>
            <a:prstGeom prst="ellipse">
              <a:avLst/>
            </a:prstGeom>
            <a:solidFill>
              <a:schemeClr val="lt2"/>
            </a:solidFill>
            <a:ln cap="flat" cmpd="sng" w="65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2850" lIns="62850" spcFirstLastPara="1" rIns="62850" wrap="square" tIns="628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ja" sz="1121"/>
                <a:t>ユーザ</a:t>
              </a:r>
              <a:endParaRPr sz="1121"/>
            </a:p>
          </p:txBody>
        </p:sp>
        <p:sp>
          <p:nvSpPr>
            <p:cNvPr id="129" name="Google Shape;129;p16"/>
            <p:cNvSpPr/>
            <p:nvPr/>
          </p:nvSpPr>
          <p:spPr>
            <a:xfrm>
              <a:off x="2251725" y="2571750"/>
              <a:ext cx="498900" cy="332400"/>
            </a:xfrm>
            <a:prstGeom prst="upArrow">
              <a:avLst>
                <a:gd fmla="val 50000" name="adj1"/>
                <a:gd fmla="val 50000" name="adj2"/>
              </a:avLst>
            </a:prstGeom>
            <a:solidFill>
              <a:schemeClr val="lt2"/>
            </a:solidFill>
            <a:ln cap="flat" cmpd="sng" w="65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2850" lIns="62850" spcFirstLastPara="1" rIns="62850" wrap="square" tIns="628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62"/>
            </a:p>
          </p:txBody>
        </p:sp>
        <p:sp>
          <p:nvSpPr>
            <p:cNvPr id="130" name="Google Shape;130;p16"/>
            <p:cNvSpPr txBox="1"/>
            <p:nvPr/>
          </p:nvSpPr>
          <p:spPr>
            <a:xfrm rot="10800000">
              <a:off x="994406" y="2484751"/>
              <a:ext cx="1257300" cy="50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2850" lIns="62850" spcFirstLastPara="1" rIns="62850" wrap="square" tIns="6285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ja" sz="1437">
                  <a:solidFill>
                    <a:schemeClr val="dk2"/>
                  </a:solidFill>
                </a:rPr>
                <a:t>視線方向</a:t>
              </a:r>
              <a:endParaRPr sz="1437">
                <a:solidFill>
                  <a:schemeClr val="dk2"/>
                </a:solidFill>
              </a:endParaRPr>
            </a:p>
          </p:txBody>
        </p:sp>
      </p:grpSp>
      <p:sp>
        <p:nvSpPr>
          <p:cNvPr id="131" name="Google Shape;131;p16"/>
          <p:cNvSpPr/>
          <p:nvPr/>
        </p:nvSpPr>
        <p:spPr>
          <a:xfrm flipH="1" rot="10800000">
            <a:off x="5802150" y="3055189"/>
            <a:ext cx="1270875" cy="1275663"/>
          </a:xfrm>
          <a:custGeom>
            <a:rect b="b" l="l" r="r" t="t"/>
            <a:pathLst>
              <a:path extrusionOk="0" h="57592" w="50835">
                <a:moveTo>
                  <a:pt x="0" y="0"/>
                </a:moveTo>
                <a:cubicBezTo>
                  <a:pt x="2842" y="505"/>
                  <a:pt x="11178" y="631"/>
                  <a:pt x="17051" y="3031"/>
                </a:cubicBezTo>
                <a:cubicBezTo>
                  <a:pt x="22924" y="5431"/>
                  <a:pt x="30564" y="9788"/>
                  <a:pt x="35237" y="14398"/>
                </a:cubicBezTo>
                <a:cubicBezTo>
                  <a:pt x="39910" y="19008"/>
                  <a:pt x="42563" y="24502"/>
                  <a:pt x="45089" y="30690"/>
                </a:cubicBezTo>
                <a:cubicBezTo>
                  <a:pt x="47615" y="36879"/>
                  <a:pt x="49509" y="47045"/>
                  <a:pt x="50393" y="51529"/>
                </a:cubicBezTo>
                <a:cubicBezTo>
                  <a:pt x="51277" y="56013"/>
                  <a:pt x="50393" y="56582"/>
                  <a:pt x="50393" y="57592"/>
                </a:cubicBezTo>
              </a:path>
            </a:pathLst>
          </a:custGeom>
          <a:noFill/>
          <a:ln cap="flat" cmpd="sng" w="76200">
            <a:solidFill>
              <a:schemeClr val="accent1"/>
            </a:solidFill>
            <a:prstDash val="dash"/>
            <a:round/>
            <a:headEnd len="med" w="med" type="none"/>
            <a:tailEnd len="med" w="med" type="stealth"/>
          </a:ln>
        </p:spPr>
      </p:sp>
      <p:sp>
        <p:nvSpPr>
          <p:cNvPr id="132" name="Google Shape;132;p16"/>
          <p:cNvSpPr txBox="1"/>
          <p:nvPr/>
        </p:nvSpPr>
        <p:spPr>
          <a:xfrm>
            <a:off x="6387375" y="257175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000">
                <a:solidFill>
                  <a:schemeClr val="accent1"/>
                </a:solidFill>
              </a:rPr>
              <a:t>仮想空間の回転量</a:t>
            </a:r>
            <a:endParaRPr sz="1600"/>
          </a:p>
        </p:txBody>
      </p:sp>
      <p:sp>
        <p:nvSpPr>
          <p:cNvPr id="133" name="Google Shape;133;p16"/>
          <p:cNvSpPr txBox="1"/>
          <p:nvPr/>
        </p:nvSpPr>
        <p:spPr>
          <a:xfrm>
            <a:off x="6640575" y="4075775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000">
                <a:solidFill>
                  <a:schemeClr val="accent4"/>
                </a:solidFill>
              </a:rPr>
              <a:t>現実空間の</a:t>
            </a:r>
            <a:r>
              <a:rPr b="1" lang="ja" sz="2000">
                <a:solidFill>
                  <a:schemeClr val="accent4"/>
                </a:solidFill>
              </a:rPr>
              <a:t>回転</a:t>
            </a:r>
            <a:r>
              <a:rPr b="1" lang="ja" sz="2000">
                <a:solidFill>
                  <a:schemeClr val="accent4"/>
                </a:solidFill>
              </a:rPr>
              <a:t>量</a:t>
            </a:r>
            <a:endParaRPr sz="1600">
              <a:solidFill>
                <a:schemeClr val="accent4"/>
              </a:solidFill>
            </a:endParaRPr>
          </a:p>
        </p:txBody>
      </p:sp>
      <p:sp>
        <p:nvSpPr>
          <p:cNvPr id="134" name="Google Shape;134;p16"/>
          <p:cNvSpPr/>
          <p:nvPr/>
        </p:nvSpPr>
        <p:spPr>
          <a:xfrm>
            <a:off x="5796975" y="4007725"/>
            <a:ext cx="892225" cy="313500"/>
          </a:xfrm>
          <a:custGeom>
            <a:rect b="b" l="l" r="r" t="t"/>
            <a:pathLst>
              <a:path extrusionOk="0" h="12540" w="35689">
                <a:moveTo>
                  <a:pt x="0" y="12540"/>
                </a:moveTo>
                <a:cubicBezTo>
                  <a:pt x="2090" y="12218"/>
                  <a:pt x="8521" y="11494"/>
                  <a:pt x="12540" y="10610"/>
                </a:cubicBezTo>
                <a:cubicBezTo>
                  <a:pt x="16559" y="9726"/>
                  <a:pt x="20256" y="9003"/>
                  <a:pt x="24114" y="7235"/>
                </a:cubicBezTo>
                <a:cubicBezTo>
                  <a:pt x="27972" y="5467"/>
                  <a:pt x="33760" y="1206"/>
                  <a:pt x="35689" y="0"/>
                </a:cubicBezTo>
              </a:path>
            </a:pathLst>
          </a:custGeom>
          <a:noFill/>
          <a:ln cap="flat" cmpd="sng" w="76200">
            <a:solidFill>
              <a:srgbClr val="FF9900"/>
            </a:solidFill>
            <a:prstDash val="solid"/>
            <a:round/>
            <a:headEnd len="med" w="med" type="none"/>
            <a:tailEnd len="med" w="med" type="stealth"/>
          </a:ln>
        </p:spPr>
      </p:sp>
      <p:grpSp>
        <p:nvGrpSpPr>
          <p:cNvPr id="135" name="Google Shape;135;p16"/>
          <p:cNvGrpSpPr/>
          <p:nvPr/>
        </p:nvGrpSpPr>
        <p:grpSpPr>
          <a:xfrm rot="8100000">
            <a:off x="5753799" y="264096"/>
            <a:ext cx="1561135" cy="1961317"/>
            <a:chOff x="1190873" y="1671982"/>
            <a:chExt cx="2271377" cy="2853623"/>
          </a:xfrm>
        </p:grpSpPr>
        <p:sp>
          <p:nvSpPr>
            <p:cNvPr id="136" name="Google Shape;136;p16"/>
            <p:cNvSpPr/>
            <p:nvPr/>
          </p:nvSpPr>
          <p:spPr>
            <a:xfrm>
              <a:off x="1550350" y="3557000"/>
              <a:ext cx="1911900" cy="665100"/>
            </a:xfrm>
            <a:prstGeom prst="roundRect">
              <a:avLst>
                <a:gd fmla="val 37494" name="adj"/>
              </a:avLst>
            </a:prstGeom>
            <a:solidFill>
              <a:srgbClr val="999999"/>
            </a:solidFill>
            <a:ln cap="flat" cmpd="sng" w="65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2850" lIns="62850" spcFirstLastPara="1" rIns="62850" wrap="square" tIns="628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62"/>
            </a:p>
          </p:txBody>
        </p:sp>
        <p:sp>
          <p:nvSpPr>
            <p:cNvPr id="137" name="Google Shape;137;p16"/>
            <p:cNvSpPr/>
            <p:nvPr/>
          </p:nvSpPr>
          <p:spPr>
            <a:xfrm>
              <a:off x="2002425" y="2996725"/>
              <a:ext cx="997500" cy="467700"/>
            </a:xfrm>
            <a:prstGeom prst="roundRect">
              <a:avLst>
                <a:gd fmla="val 16667" name="adj"/>
              </a:avLst>
            </a:prstGeom>
            <a:solidFill>
              <a:schemeClr val="dk2"/>
            </a:solidFill>
            <a:ln cap="flat" cmpd="sng" w="65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2850" lIns="62850" spcFirstLastPara="1" rIns="62850" wrap="square" tIns="628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62"/>
            </a:p>
          </p:txBody>
        </p:sp>
        <p:sp>
          <p:nvSpPr>
            <p:cNvPr id="138" name="Google Shape;138;p16"/>
            <p:cNvSpPr/>
            <p:nvPr/>
          </p:nvSpPr>
          <p:spPr>
            <a:xfrm rot="-7881081">
              <a:off x="1924662" y="3048702"/>
              <a:ext cx="1153366" cy="1257307"/>
            </a:xfrm>
            <a:prstGeom prst="ellipse">
              <a:avLst/>
            </a:prstGeom>
            <a:solidFill>
              <a:schemeClr val="lt2"/>
            </a:solidFill>
            <a:ln cap="flat" cmpd="sng" w="65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2850" lIns="62850" spcFirstLastPara="1" rIns="62850" wrap="square" tIns="628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ja" sz="1121"/>
                <a:t>ユーザ</a:t>
              </a:r>
              <a:endParaRPr sz="1121"/>
            </a:p>
          </p:txBody>
        </p:sp>
        <p:sp>
          <p:nvSpPr>
            <p:cNvPr id="139" name="Google Shape;139;p16"/>
            <p:cNvSpPr/>
            <p:nvPr/>
          </p:nvSpPr>
          <p:spPr>
            <a:xfrm>
              <a:off x="2251725" y="2571750"/>
              <a:ext cx="498900" cy="332400"/>
            </a:xfrm>
            <a:prstGeom prst="upArrow">
              <a:avLst>
                <a:gd fmla="val 50000" name="adj1"/>
                <a:gd fmla="val 50000" name="adj2"/>
              </a:avLst>
            </a:prstGeom>
            <a:solidFill>
              <a:schemeClr val="lt2"/>
            </a:solidFill>
            <a:ln cap="flat" cmpd="sng" w="65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2850" lIns="62850" spcFirstLastPara="1" rIns="62850" wrap="square" tIns="628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62"/>
            </a:p>
          </p:txBody>
        </p:sp>
        <p:sp>
          <p:nvSpPr>
            <p:cNvPr id="140" name="Google Shape;140;p16"/>
            <p:cNvSpPr txBox="1"/>
            <p:nvPr/>
          </p:nvSpPr>
          <p:spPr>
            <a:xfrm rot="-8099420">
              <a:off x="1185770" y="2042397"/>
              <a:ext cx="1257307" cy="50657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2850" lIns="62850" spcFirstLastPara="1" rIns="62850" wrap="square" tIns="6285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ja" sz="1437">
                  <a:solidFill>
                    <a:schemeClr val="dk2"/>
                  </a:solidFill>
                </a:rPr>
                <a:t>視線方向</a:t>
              </a:r>
              <a:endParaRPr sz="1437">
                <a:solidFill>
                  <a:schemeClr val="dk2"/>
                </a:solidFill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5" name="Google Shape;145;p17"/>
          <p:cNvGrpSpPr/>
          <p:nvPr/>
        </p:nvGrpSpPr>
        <p:grpSpPr>
          <a:xfrm rot="5400000">
            <a:off x="799880" y="3078912"/>
            <a:ext cx="1314240" cy="1777951"/>
            <a:chOff x="1550350" y="1739429"/>
            <a:chExt cx="1911900" cy="2586487"/>
          </a:xfrm>
        </p:grpSpPr>
        <p:sp>
          <p:nvSpPr>
            <p:cNvPr id="146" name="Google Shape;146;p17"/>
            <p:cNvSpPr/>
            <p:nvPr/>
          </p:nvSpPr>
          <p:spPr>
            <a:xfrm>
              <a:off x="1550350" y="3557000"/>
              <a:ext cx="1911900" cy="665100"/>
            </a:xfrm>
            <a:prstGeom prst="roundRect">
              <a:avLst>
                <a:gd fmla="val 37494" name="adj"/>
              </a:avLst>
            </a:prstGeom>
            <a:solidFill>
              <a:srgbClr val="999999"/>
            </a:solidFill>
            <a:ln cap="flat" cmpd="sng" w="65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2850" lIns="62850" spcFirstLastPara="1" rIns="62850" wrap="square" tIns="628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62"/>
            </a:p>
          </p:txBody>
        </p:sp>
        <p:sp>
          <p:nvSpPr>
            <p:cNvPr id="147" name="Google Shape;147;p17"/>
            <p:cNvSpPr/>
            <p:nvPr/>
          </p:nvSpPr>
          <p:spPr>
            <a:xfrm>
              <a:off x="2002425" y="2996725"/>
              <a:ext cx="997500" cy="467700"/>
            </a:xfrm>
            <a:prstGeom prst="roundRect">
              <a:avLst>
                <a:gd fmla="val 16667" name="adj"/>
              </a:avLst>
            </a:prstGeom>
            <a:solidFill>
              <a:schemeClr val="dk2"/>
            </a:solidFill>
            <a:ln cap="flat" cmpd="sng" w="65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2850" lIns="62850" spcFirstLastPara="1" rIns="62850" wrap="square" tIns="628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62"/>
            </a:p>
          </p:txBody>
        </p:sp>
        <p:sp>
          <p:nvSpPr>
            <p:cNvPr id="148" name="Google Shape;148;p17"/>
            <p:cNvSpPr/>
            <p:nvPr/>
          </p:nvSpPr>
          <p:spPr>
            <a:xfrm rot="-5400000">
              <a:off x="1872517" y="3068616"/>
              <a:ext cx="1257300" cy="1257300"/>
            </a:xfrm>
            <a:prstGeom prst="ellipse">
              <a:avLst/>
            </a:prstGeom>
            <a:solidFill>
              <a:schemeClr val="lt2"/>
            </a:solidFill>
            <a:ln cap="flat" cmpd="sng" w="65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2850" lIns="62850" spcFirstLastPara="1" rIns="62850" wrap="square" tIns="628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ja" sz="1121"/>
                <a:t>ユーザ</a:t>
              </a:r>
              <a:endParaRPr sz="1121"/>
            </a:p>
          </p:txBody>
        </p:sp>
        <p:sp>
          <p:nvSpPr>
            <p:cNvPr id="149" name="Google Shape;149;p17"/>
            <p:cNvSpPr/>
            <p:nvPr/>
          </p:nvSpPr>
          <p:spPr>
            <a:xfrm>
              <a:off x="2251725" y="2571750"/>
              <a:ext cx="498900" cy="332400"/>
            </a:xfrm>
            <a:prstGeom prst="upArrow">
              <a:avLst>
                <a:gd fmla="val 50000" name="adj1"/>
                <a:gd fmla="val 50000" name="adj2"/>
              </a:avLst>
            </a:prstGeom>
            <a:solidFill>
              <a:schemeClr val="lt2"/>
            </a:solidFill>
            <a:ln cap="flat" cmpd="sng" w="65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2850" lIns="62850" spcFirstLastPara="1" rIns="62850" wrap="square" tIns="628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62"/>
            </a:p>
          </p:txBody>
        </p:sp>
        <p:sp>
          <p:nvSpPr>
            <p:cNvPr id="150" name="Google Shape;150;p17"/>
            <p:cNvSpPr txBox="1"/>
            <p:nvPr/>
          </p:nvSpPr>
          <p:spPr>
            <a:xfrm rot="-5400000">
              <a:off x="2391264" y="2114879"/>
              <a:ext cx="1257300" cy="50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2850" lIns="62850" spcFirstLastPara="1" rIns="62850" wrap="square" tIns="6285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ja" sz="1437">
                  <a:solidFill>
                    <a:schemeClr val="dk2"/>
                  </a:solidFill>
                </a:rPr>
                <a:t>視線方向</a:t>
              </a:r>
              <a:endParaRPr sz="1437">
                <a:solidFill>
                  <a:schemeClr val="dk2"/>
                </a:solidFill>
              </a:endParaRPr>
            </a:p>
          </p:txBody>
        </p:sp>
      </p:grpSp>
      <p:sp>
        <p:nvSpPr>
          <p:cNvPr id="151" name="Google Shape;151;p17"/>
          <p:cNvSpPr txBox="1"/>
          <p:nvPr/>
        </p:nvSpPr>
        <p:spPr>
          <a:xfrm>
            <a:off x="2239775" y="2731775"/>
            <a:ext cx="1333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000">
                <a:solidFill>
                  <a:schemeClr val="accent1"/>
                </a:solidFill>
              </a:rPr>
              <a:t>仮想空間</a:t>
            </a:r>
            <a:endParaRPr sz="1600"/>
          </a:p>
        </p:txBody>
      </p:sp>
      <p:sp>
        <p:nvSpPr>
          <p:cNvPr id="152" name="Google Shape;152;p17"/>
          <p:cNvSpPr txBox="1"/>
          <p:nvPr/>
        </p:nvSpPr>
        <p:spPr>
          <a:xfrm>
            <a:off x="2450725" y="3428050"/>
            <a:ext cx="1227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000">
                <a:solidFill>
                  <a:schemeClr val="accent4"/>
                </a:solidFill>
              </a:rPr>
              <a:t>現実空間</a:t>
            </a:r>
            <a:endParaRPr sz="1600">
              <a:solidFill>
                <a:schemeClr val="accent4"/>
              </a:solidFill>
            </a:endParaRPr>
          </a:p>
        </p:txBody>
      </p:sp>
      <p:sp>
        <p:nvSpPr>
          <p:cNvPr id="153" name="Google Shape;153;p17"/>
          <p:cNvSpPr/>
          <p:nvPr/>
        </p:nvSpPr>
        <p:spPr>
          <a:xfrm rot="-5400000">
            <a:off x="1462000" y="3123233"/>
            <a:ext cx="1203968" cy="553766"/>
          </a:xfrm>
          <a:custGeom>
            <a:rect b="b" l="l" r="r" t="t"/>
            <a:pathLst>
              <a:path extrusionOk="0" h="12540" w="35689">
                <a:moveTo>
                  <a:pt x="0" y="12540"/>
                </a:moveTo>
                <a:cubicBezTo>
                  <a:pt x="2090" y="12218"/>
                  <a:pt x="8521" y="11494"/>
                  <a:pt x="12540" y="10610"/>
                </a:cubicBezTo>
                <a:cubicBezTo>
                  <a:pt x="16559" y="9726"/>
                  <a:pt x="20256" y="9003"/>
                  <a:pt x="24114" y="7235"/>
                </a:cubicBezTo>
                <a:cubicBezTo>
                  <a:pt x="27972" y="5467"/>
                  <a:pt x="33760" y="1206"/>
                  <a:pt x="35689" y="0"/>
                </a:cubicBezTo>
              </a:path>
            </a:pathLst>
          </a:custGeom>
          <a:noFill/>
          <a:ln cap="flat" cmpd="sng" w="76200">
            <a:solidFill>
              <a:schemeClr val="accent1"/>
            </a:solidFill>
            <a:prstDash val="dash"/>
            <a:round/>
            <a:headEnd len="med" w="med" type="none"/>
            <a:tailEnd len="med" w="med" type="stealth"/>
          </a:ln>
        </p:spPr>
      </p:sp>
      <p:grpSp>
        <p:nvGrpSpPr>
          <p:cNvPr id="154" name="Google Shape;154;p17"/>
          <p:cNvGrpSpPr/>
          <p:nvPr/>
        </p:nvGrpSpPr>
        <p:grpSpPr>
          <a:xfrm>
            <a:off x="252016" y="859383"/>
            <a:ext cx="1696396" cy="1251904"/>
            <a:chOff x="994406" y="2484751"/>
            <a:chExt cx="2467844" cy="1821216"/>
          </a:xfrm>
        </p:grpSpPr>
        <p:sp>
          <p:nvSpPr>
            <p:cNvPr id="155" name="Google Shape;155;p17"/>
            <p:cNvSpPr/>
            <p:nvPr/>
          </p:nvSpPr>
          <p:spPr>
            <a:xfrm>
              <a:off x="1550350" y="3557000"/>
              <a:ext cx="1911900" cy="665100"/>
            </a:xfrm>
            <a:prstGeom prst="roundRect">
              <a:avLst>
                <a:gd fmla="val 37494" name="adj"/>
              </a:avLst>
            </a:prstGeom>
            <a:solidFill>
              <a:srgbClr val="999999"/>
            </a:solidFill>
            <a:ln cap="flat" cmpd="sng" w="65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2850" lIns="62850" spcFirstLastPara="1" rIns="62850" wrap="square" tIns="628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62"/>
            </a:p>
          </p:txBody>
        </p:sp>
        <p:sp>
          <p:nvSpPr>
            <p:cNvPr id="156" name="Google Shape;156;p17"/>
            <p:cNvSpPr/>
            <p:nvPr/>
          </p:nvSpPr>
          <p:spPr>
            <a:xfrm>
              <a:off x="2002425" y="2996725"/>
              <a:ext cx="997500" cy="467700"/>
            </a:xfrm>
            <a:prstGeom prst="roundRect">
              <a:avLst>
                <a:gd fmla="val 16667" name="adj"/>
              </a:avLst>
            </a:prstGeom>
            <a:solidFill>
              <a:schemeClr val="dk2"/>
            </a:solidFill>
            <a:ln cap="flat" cmpd="sng" w="65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2850" lIns="62850" spcFirstLastPara="1" rIns="62850" wrap="square" tIns="628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62"/>
            </a:p>
          </p:txBody>
        </p:sp>
        <p:sp>
          <p:nvSpPr>
            <p:cNvPr id="157" name="Google Shape;157;p17"/>
            <p:cNvSpPr/>
            <p:nvPr/>
          </p:nvSpPr>
          <p:spPr>
            <a:xfrm>
              <a:off x="1924521" y="3048667"/>
              <a:ext cx="1153500" cy="1257300"/>
            </a:xfrm>
            <a:prstGeom prst="ellipse">
              <a:avLst/>
            </a:prstGeom>
            <a:solidFill>
              <a:schemeClr val="lt2"/>
            </a:solidFill>
            <a:ln cap="flat" cmpd="sng" w="65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2850" lIns="62850" spcFirstLastPara="1" rIns="62850" wrap="square" tIns="628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ja" sz="1121"/>
                <a:t>ユーザ</a:t>
              </a:r>
              <a:endParaRPr sz="1121"/>
            </a:p>
          </p:txBody>
        </p:sp>
        <p:sp>
          <p:nvSpPr>
            <p:cNvPr id="158" name="Google Shape;158;p17"/>
            <p:cNvSpPr/>
            <p:nvPr/>
          </p:nvSpPr>
          <p:spPr>
            <a:xfrm>
              <a:off x="2251725" y="2571750"/>
              <a:ext cx="498900" cy="332400"/>
            </a:xfrm>
            <a:prstGeom prst="upArrow">
              <a:avLst>
                <a:gd fmla="val 50000" name="adj1"/>
                <a:gd fmla="val 50000" name="adj2"/>
              </a:avLst>
            </a:prstGeom>
            <a:solidFill>
              <a:schemeClr val="lt2"/>
            </a:solidFill>
            <a:ln cap="flat" cmpd="sng" w="65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2850" lIns="62850" spcFirstLastPara="1" rIns="62850" wrap="square" tIns="628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62"/>
            </a:p>
          </p:txBody>
        </p:sp>
        <p:sp>
          <p:nvSpPr>
            <p:cNvPr id="159" name="Google Shape;159;p17"/>
            <p:cNvSpPr txBox="1"/>
            <p:nvPr/>
          </p:nvSpPr>
          <p:spPr>
            <a:xfrm>
              <a:off x="994406" y="2484751"/>
              <a:ext cx="1257300" cy="50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2850" lIns="62850" spcFirstLastPara="1" rIns="62850" wrap="square" tIns="6285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ja" sz="1437">
                  <a:solidFill>
                    <a:schemeClr val="dk2"/>
                  </a:solidFill>
                </a:rPr>
                <a:t>視線方向</a:t>
              </a:r>
              <a:endParaRPr sz="1437">
                <a:solidFill>
                  <a:schemeClr val="dk2"/>
                </a:solidFill>
              </a:endParaRPr>
            </a:p>
          </p:txBody>
        </p:sp>
      </p:grpSp>
      <p:sp>
        <p:nvSpPr>
          <p:cNvPr id="160" name="Google Shape;160;p17"/>
          <p:cNvSpPr/>
          <p:nvPr/>
        </p:nvSpPr>
        <p:spPr>
          <a:xfrm>
            <a:off x="1295125" y="366775"/>
            <a:ext cx="1270875" cy="1270911"/>
          </a:xfrm>
          <a:custGeom>
            <a:rect b="b" l="l" r="r" t="t"/>
            <a:pathLst>
              <a:path extrusionOk="0" h="57592" w="50835">
                <a:moveTo>
                  <a:pt x="0" y="0"/>
                </a:moveTo>
                <a:cubicBezTo>
                  <a:pt x="2842" y="505"/>
                  <a:pt x="11178" y="631"/>
                  <a:pt x="17051" y="3031"/>
                </a:cubicBezTo>
                <a:cubicBezTo>
                  <a:pt x="22924" y="5431"/>
                  <a:pt x="30564" y="9788"/>
                  <a:pt x="35237" y="14398"/>
                </a:cubicBezTo>
                <a:cubicBezTo>
                  <a:pt x="39910" y="19008"/>
                  <a:pt x="42563" y="24502"/>
                  <a:pt x="45089" y="30690"/>
                </a:cubicBezTo>
                <a:cubicBezTo>
                  <a:pt x="47615" y="36879"/>
                  <a:pt x="49509" y="47045"/>
                  <a:pt x="50393" y="51529"/>
                </a:cubicBezTo>
                <a:cubicBezTo>
                  <a:pt x="51277" y="56013"/>
                  <a:pt x="50393" y="56582"/>
                  <a:pt x="50393" y="57592"/>
                </a:cubicBezTo>
              </a:path>
            </a:pathLst>
          </a:custGeom>
          <a:noFill/>
          <a:ln cap="flat" cmpd="sng" w="76200">
            <a:solidFill>
              <a:schemeClr val="accent4"/>
            </a:solidFill>
            <a:prstDash val="solid"/>
            <a:round/>
            <a:headEnd len="med" w="med" type="none"/>
            <a:tailEnd len="med" w="med" type="stealth"/>
          </a:ln>
        </p:spPr>
      </p:sp>
      <p:sp>
        <p:nvSpPr>
          <p:cNvPr id="161" name="Google Shape;161;p17"/>
          <p:cNvSpPr txBox="1"/>
          <p:nvPr/>
        </p:nvSpPr>
        <p:spPr>
          <a:xfrm>
            <a:off x="2148025" y="218375"/>
            <a:ext cx="1227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000">
                <a:solidFill>
                  <a:schemeClr val="accent1"/>
                </a:solidFill>
              </a:rPr>
              <a:t>仮想空間</a:t>
            </a:r>
            <a:endParaRPr sz="1600"/>
          </a:p>
        </p:txBody>
      </p:sp>
      <p:sp>
        <p:nvSpPr>
          <p:cNvPr id="162" name="Google Shape;162;p17"/>
          <p:cNvSpPr txBox="1"/>
          <p:nvPr/>
        </p:nvSpPr>
        <p:spPr>
          <a:xfrm>
            <a:off x="2290400" y="1551450"/>
            <a:ext cx="1227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000">
                <a:solidFill>
                  <a:schemeClr val="accent4"/>
                </a:solidFill>
              </a:rPr>
              <a:t>現実空間</a:t>
            </a:r>
            <a:endParaRPr sz="1600">
              <a:solidFill>
                <a:schemeClr val="accent4"/>
              </a:solidFill>
            </a:endParaRPr>
          </a:p>
        </p:txBody>
      </p:sp>
      <p:sp>
        <p:nvSpPr>
          <p:cNvPr id="163" name="Google Shape;163;p17"/>
          <p:cNvSpPr/>
          <p:nvPr/>
        </p:nvSpPr>
        <p:spPr>
          <a:xfrm flipH="1" rot="10800000">
            <a:off x="1289950" y="376369"/>
            <a:ext cx="1000452" cy="384947"/>
          </a:xfrm>
          <a:custGeom>
            <a:rect b="b" l="l" r="r" t="t"/>
            <a:pathLst>
              <a:path extrusionOk="0" h="12540" w="35689">
                <a:moveTo>
                  <a:pt x="0" y="12540"/>
                </a:moveTo>
                <a:cubicBezTo>
                  <a:pt x="2090" y="12218"/>
                  <a:pt x="8521" y="11494"/>
                  <a:pt x="12540" y="10610"/>
                </a:cubicBezTo>
                <a:cubicBezTo>
                  <a:pt x="16559" y="9726"/>
                  <a:pt x="20256" y="9003"/>
                  <a:pt x="24114" y="7235"/>
                </a:cubicBezTo>
                <a:cubicBezTo>
                  <a:pt x="27972" y="5467"/>
                  <a:pt x="33760" y="1206"/>
                  <a:pt x="35689" y="0"/>
                </a:cubicBezTo>
              </a:path>
            </a:pathLst>
          </a:custGeom>
          <a:noFill/>
          <a:ln cap="flat" cmpd="sng" w="76200">
            <a:solidFill>
              <a:schemeClr val="accent1"/>
            </a:solidFill>
            <a:prstDash val="dash"/>
            <a:round/>
            <a:headEnd len="med" w="med" type="none"/>
            <a:tailEnd len="med" w="med" type="stealth"/>
          </a:ln>
        </p:spPr>
      </p:sp>
      <p:sp>
        <p:nvSpPr>
          <p:cNvPr id="164" name="Google Shape;164;p17"/>
          <p:cNvSpPr/>
          <p:nvPr/>
        </p:nvSpPr>
        <p:spPr>
          <a:xfrm>
            <a:off x="2109150" y="3224377"/>
            <a:ext cx="236826" cy="776812"/>
          </a:xfrm>
          <a:custGeom>
            <a:rect b="b" l="l" r="r" t="t"/>
            <a:pathLst>
              <a:path extrusionOk="0" h="18187" w="4168">
                <a:moveTo>
                  <a:pt x="4168" y="18187"/>
                </a:moveTo>
                <a:cubicBezTo>
                  <a:pt x="4105" y="17113"/>
                  <a:pt x="4168" y="13892"/>
                  <a:pt x="3789" y="11745"/>
                </a:cubicBezTo>
                <a:cubicBezTo>
                  <a:pt x="3410" y="9598"/>
                  <a:pt x="2526" y="7262"/>
                  <a:pt x="1894" y="5304"/>
                </a:cubicBezTo>
                <a:cubicBezTo>
                  <a:pt x="1263" y="3347"/>
                  <a:pt x="316" y="884"/>
                  <a:pt x="0" y="0"/>
                </a:cubicBezTo>
              </a:path>
            </a:pathLst>
          </a:custGeom>
          <a:noFill/>
          <a:ln cap="flat" cmpd="sng" w="76200">
            <a:solidFill>
              <a:schemeClr val="accent4"/>
            </a:solidFill>
            <a:prstDash val="solid"/>
            <a:round/>
            <a:headEnd len="med" w="med" type="none"/>
            <a:tailEnd len="med" w="med" type="stealth"/>
          </a:ln>
        </p:spPr>
      </p:sp>
      <p:grpSp>
        <p:nvGrpSpPr>
          <p:cNvPr id="165" name="Google Shape;165;p17"/>
          <p:cNvGrpSpPr/>
          <p:nvPr/>
        </p:nvGrpSpPr>
        <p:grpSpPr>
          <a:xfrm rot="3537458">
            <a:off x="4864567" y="2401373"/>
            <a:ext cx="1433554" cy="1925024"/>
            <a:chOff x="1550350" y="1759734"/>
            <a:chExt cx="2085313" cy="2800227"/>
          </a:xfrm>
        </p:grpSpPr>
        <p:sp>
          <p:nvSpPr>
            <p:cNvPr id="166" name="Google Shape;166;p17"/>
            <p:cNvSpPr/>
            <p:nvPr/>
          </p:nvSpPr>
          <p:spPr>
            <a:xfrm>
              <a:off x="1550350" y="3557000"/>
              <a:ext cx="1911900" cy="665100"/>
            </a:xfrm>
            <a:prstGeom prst="roundRect">
              <a:avLst>
                <a:gd fmla="val 37494" name="adj"/>
              </a:avLst>
            </a:prstGeom>
            <a:solidFill>
              <a:srgbClr val="999999"/>
            </a:solidFill>
            <a:ln cap="flat" cmpd="sng" w="65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2850" lIns="62850" spcFirstLastPara="1" rIns="62850" wrap="square" tIns="628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62"/>
            </a:p>
          </p:txBody>
        </p:sp>
        <p:sp>
          <p:nvSpPr>
            <p:cNvPr id="167" name="Google Shape;167;p17"/>
            <p:cNvSpPr/>
            <p:nvPr/>
          </p:nvSpPr>
          <p:spPr>
            <a:xfrm>
              <a:off x="2002425" y="2996725"/>
              <a:ext cx="997500" cy="467700"/>
            </a:xfrm>
            <a:prstGeom prst="roundRect">
              <a:avLst>
                <a:gd fmla="val 16667" name="adj"/>
              </a:avLst>
            </a:prstGeom>
            <a:solidFill>
              <a:schemeClr val="dk2"/>
            </a:solidFill>
            <a:ln cap="flat" cmpd="sng" w="65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2850" lIns="62850" spcFirstLastPara="1" rIns="62850" wrap="square" tIns="628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62"/>
            </a:p>
          </p:txBody>
        </p:sp>
        <p:sp>
          <p:nvSpPr>
            <p:cNvPr id="168" name="Google Shape;168;p17"/>
            <p:cNvSpPr/>
            <p:nvPr/>
          </p:nvSpPr>
          <p:spPr>
            <a:xfrm rot="-3537673">
              <a:off x="1872494" y="3068498"/>
              <a:ext cx="1257326" cy="1257326"/>
            </a:xfrm>
            <a:prstGeom prst="ellipse">
              <a:avLst/>
            </a:prstGeom>
            <a:solidFill>
              <a:schemeClr val="lt2"/>
            </a:solidFill>
            <a:ln cap="flat" cmpd="sng" w="65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2850" lIns="62850" spcFirstLastPara="1" rIns="62850" wrap="square" tIns="628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ja" sz="1121"/>
                <a:t>ユーザ</a:t>
              </a:r>
              <a:endParaRPr sz="1121"/>
            </a:p>
          </p:txBody>
        </p:sp>
        <p:sp>
          <p:nvSpPr>
            <p:cNvPr id="169" name="Google Shape;169;p17"/>
            <p:cNvSpPr/>
            <p:nvPr/>
          </p:nvSpPr>
          <p:spPr>
            <a:xfrm>
              <a:off x="2251725" y="2571750"/>
              <a:ext cx="498900" cy="332400"/>
            </a:xfrm>
            <a:prstGeom prst="upArrow">
              <a:avLst>
                <a:gd fmla="val 50000" name="adj1"/>
                <a:gd fmla="val 50000" name="adj2"/>
              </a:avLst>
            </a:prstGeom>
            <a:solidFill>
              <a:srgbClr val="FF0000"/>
            </a:solidFill>
            <a:ln cap="flat" cmpd="sng" w="65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2850" lIns="62850" spcFirstLastPara="1" rIns="62850" wrap="square" tIns="628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62">
                <a:solidFill>
                  <a:srgbClr val="FF0000"/>
                </a:solidFill>
              </a:endParaRPr>
            </a:p>
          </p:txBody>
        </p:sp>
        <p:sp>
          <p:nvSpPr>
            <p:cNvPr id="170" name="Google Shape;170;p17"/>
            <p:cNvSpPr txBox="1"/>
            <p:nvPr/>
          </p:nvSpPr>
          <p:spPr>
            <a:xfrm rot="-3537673">
              <a:off x="2465800" y="2175623"/>
              <a:ext cx="1257326" cy="50652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2850" lIns="62850" spcFirstLastPara="1" rIns="62850" wrap="square" tIns="6285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ja" sz="1437">
                  <a:solidFill>
                    <a:schemeClr val="dk2"/>
                  </a:solidFill>
                </a:rPr>
                <a:t>視線方向</a:t>
              </a:r>
              <a:endParaRPr sz="1437">
                <a:solidFill>
                  <a:schemeClr val="dk2"/>
                </a:solidFill>
              </a:endParaRPr>
            </a:p>
          </p:txBody>
        </p:sp>
      </p:grpSp>
      <p:sp>
        <p:nvSpPr>
          <p:cNvPr id="171" name="Google Shape;171;p17"/>
          <p:cNvSpPr/>
          <p:nvPr/>
        </p:nvSpPr>
        <p:spPr>
          <a:xfrm>
            <a:off x="4894125" y="2523446"/>
            <a:ext cx="553800" cy="294600"/>
          </a:xfrm>
          <a:prstGeom prst="upArrow">
            <a:avLst>
              <a:gd fmla="val 50000" name="adj1"/>
              <a:gd fmla="val 50000" name="adj2"/>
            </a:avLst>
          </a:prstGeom>
          <a:solidFill>
            <a:srgbClr val="FFFFFF"/>
          </a:solidFill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62850" lIns="62850" spcFirstLastPara="1" rIns="62850" wrap="square" tIns="62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62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6" name="Google Shape;176;p18"/>
          <p:cNvGrpSpPr/>
          <p:nvPr/>
        </p:nvGrpSpPr>
        <p:grpSpPr>
          <a:xfrm>
            <a:off x="1611731" y="3353600"/>
            <a:ext cx="2405538" cy="1236560"/>
            <a:chOff x="1550350" y="2507105"/>
            <a:chExt cx="3499474" cy="1798895"/>
          </a:xfrm>
        </p:grpSpPr>
        <p:sp>
          <p:nvSpPr>
            <p:cNvPr id="177" name="Google Shape;177;p18"/>
            <p:cNvSpPr/>
            <p:nvPr/>
          </p:nvSpPr>
          <p:spPr>
            <a:xfrm>
              <a:off x="1550350" y="3557000"/>
              <a:ext cx="1911900" cy="665100"/>
            </a:xfrm>
            <a:prstGeom prst="roundRect">
              <a:avLst>
                <a:gd fmla="val 37494" name="adj"/>
              </a:avLst>
            </a:prstGeom>
            <a:solidFill>
              <a:srgbClr val="999999"/>
            </a:solidFill>
            <a:ln cap="flat" cmpd="sng" w="65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2850" lIns="62850" spcFirstLastPara="1" rIns="62850" wrap="square" tIns="628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62"/>
            </a:p>
          </p:txBody>
        </p:sp>
        <p:sp>
          <p:nvSpPr>
            <p:cNvPr id="178" name="Google Shape;178;p18"/>
            <p:cNvSpPr/>
            <p:nvPr/>
          </p:nvSpPr>
          <p:spPr>
            <a:xfrm>
              <a:off x="2002425" y="2996725"/>
              <a:ext cx="997500" cy="467700"/>
            </a:xfrm>
            <a:prstGeom prst="roundRect">
              <a:avLst>
                <a:gd fmla="val 16667" name="adj"/>
              </a:avLst>
            </a:prstGeom>
            <a:solidFill>
              <a:schemeClr val="dk2"/>
            </a:solidFill>
            <a:ln cap="flat" cmpd="sng" w="65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2850" lIns="62850" spcFirstLastPara="1" rIns="62850" wrap="square" tIns="628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62"/>
            </a:p>
          </p:txBody>
        </p:sp>
        <p:sp>
          <p:nvSpPr>
            <p:cNvPr id="179" name="Google Shape;179;p18"/>
            <p:cNvSpPr/>
            <p:nvPr/>
          </p:nvSpPr>
          <p:spPr>
            <a:xfrm>
              <a:off x="1924425" y="3048700"/>
              <a:ext cx="1153500" cy="1257300"/>
            </a:xfrm>
            <a:prstGeom prst="ellipse">
              <a:avLst/>
            </a:prstGeom>
            <a:solidFill>
              <a:schemeClr val="lt2"/>
            </a:solidFill>
            <a:ln cap="flat" cmpd="sng" w="65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2850" lIns="62850" spcFirstLastPara="1" rIns="62850" wrap="square" tIns="628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ja" sz="1121"/>
                <a:t>ユーザ</a:t>
              </a:r>
              <a:endParaRPr sz="1121"/>
            </a:p>
          </p:txBody>
        </p:sp>
        <p:sp>
          <p:nvSpPr>
            <p:cNvPr id="180" name="Google Shape;180;p18"/>
            <p:cNvSpPr/>
            <p:nvPr/>
          </p:nvSpPr>
          <p:spPr>
            <a:xfrm>
              <a:off x="2251725" y="2571750"/>
              <a:ext cx="498900" cy="332400"/>
            </a:xfrm>
            <a:prstGeom prst="upArrow">
              <a:avLst>
                <a:gd fmla="val 50000" name="adj1"/>
                <a:gd fmla="val 50000" name="adj2"/>
              </a:avLst>
            </a:prstGeom>
            <a:solidFill>
              <a:schemeClr val="lt2"/>
            </a:solidFill>
            <a:ln cap="flat" cmpd="sng" w="65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2850" lIns="62850" spcFirstLastPara="1" rIns="62850" wrap="square" tIns="628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62"/>
            </a:p>
          </p:txBody>
        </p:sp>
        <p:sp>
          <p:nvSpPr>
            <p:cNvPr id="181" name="Google Shape;181;p18"/>
            <p:cNvSpPr txBox="1"/>
            <p:nvPr/>
          </p:nvSpPr>
          <p:spPr>
            <a:xfrm>
              <a:off x="2750624" y="2507105"/>
              <a:ext cx="2299200" cy="57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2850" lIns="62850" spcFirstLastPara="1" rIns="62850" wrap="square" tIns="6285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ja" sz="1737">
                  <a:solidFill>
                    <a:schemeClr val="dk2"/>
                  </a:solidFill>
                </a:rPr>
                <a:t>視</a:t>
              </a:r>
              <a:r>
                <a:rPr lang="ja" sz="1737">
                  <a:solidFill>
                    <a:schemeClr val="dk2"/>
                  </a:solidFill>
                </a:rPr>
                <a:t>線方向</a:t>
              </a:r>
              <a:endParaRPr sz="1737">
                <a:solidFill>
                  <a:schemeClr val="dk2"/>
                </a:solidFill>
              </a:endParaRPr>
            </a:p>
          </p:txBody>
        </p:sp>
      </p:grpSp>
      <p:sp>
        <p:nvSpPr>
          <p:cNvPr id="182" name="Google Shape;182;p18"/>
          <p:cNvSpPr txBox="1"/>
          <p:nvPr/>
        </p:nvSpPr>
        <p:spPr>
          <a:xfrm>
            <a:off x="2499775" y="2438000"/>
            <a:ext cx="18849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900">
                <a:solidFill>
                  <a:schemeClr val="accent4"/>
                </a:solidFill>
              </a:rPr>
              <a:t>現実空間の経路</a:t>
            </a:r>
            <a:endParaRPr b="1" sz="1900">
              <a:solidFill>
                <a:schemeClr val="accent4"/>
              </a:solidFill>
            </a:endParaRPr>
          </a:p>
        </p:txBody>
      </p:sp>
      <p:sp>
        <p:nvSpPr>
          <p:cNvPr id="183" name="Google Shape;183;p18"/>
          <p:cNvSpPr txBox="1"/>
          <p:nvPr/>
        </p:nvSpPr>
        <p:spPr>
          <a:xfrm>
            <a:off x="866950" y="993825"/>
            <a:ext cx="18849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900">
                <a:solidFill>
                  <a:schemeClr val="accent1"/>
                </a:solidFill>
              </a:rPr>
              <a:t>仮想空間の経路</a:t>
            </a:r>
            <a:endParaRPr b="1" sz="1900">
              <a:solidFill>
                <a:schemeClr val="accent1"/>
              </a:solidFill>
            </a:endParaRPr>
          </a:p>
        </p:txBody>
      </p:sp>
      <p:sp>
        <p:nvSpPr>
          <p:cNvPr id="184" name="Google Shape;184;p18"/>
          <p:cNvSpPr/>
          <p:nvPr/>
        </p:nvSpPr>
        <p:spPr>
          <a:xfrm>
            <a:off x="2253158" y="878250"/>
            <a:ext cx="920350" cy="2429450"/>
          </a:xfrm>
          <a:custGeom>
            <a:rect b="b" l="l" r="r" t="t"/>
            <a:pathLst>
              <a:path extrusionOk="0" h="97178" w="36814">
                <a:moveTo>
                  <a:pt x="221" y="97178"/>
                </a:moveTo>
                <a:cubicBezTo>
                  <a:pt x="289" y="93925"/>
                  <a:pt x="-457" y="85115"/>
                  <a:pt x="627" y="77661"/>
                </a:cubicBezTo>
                <a:cubicBezTo>
                  <a:pt x="1711" y="70207"/>
                  <a:pt x="3609" y="61939"/>
                  <a:pt x="6726" y="52452"/>
                </a:cubicBezTo>
                <a:cubicBezTo>
                  <a:pt x="9843" y="42965"/>
                  <a:pt x="14316" y="29479"/>
                  <a:pt x="19331" y="20737"/>
                </a:cubicBezTo>
                <a:cubicBezTo>
                  <a:pt x="24346" y="11995"/>
                  <a:pt x="33901" y="3456"/>
                  <a:pt x="36815" y="0"/>
                </a:cubicBezTo>
              </a:path>
            </a:pathLst>
          </a:custGeom>
          <a:noFill/>
          <a:ln cap="flat" cmpd="sng" w="76200">
            <a:solidFill>
              <a:schemeClr val="accent1"/>
            </a:solidFill>
            <a:prstDash val="dash"/>
            <a:round/>
            <a:headEnd len="med" w="med" type="none"/>
            <a:tailEnd len="med" w="med" type="stealth"/>
          </a:ln>
        </p:spPr>
      </p:sp>
      <p:sp>
        <p:nvSpPr>
          <p:cNvPr id="185" name="Google Shape;185;p18"/>
          <p:cNvSpPr/>
          <p:nvPr/>
        </p:nvSpPr>
        <p:spPr>
          <a:xfrm>
            <a:off x="2253156" y="1813208"/>
            <a:ext cx="1486625" cy="1517100"/>
          </a:xfrm>
          <a:custGeom>
            <a:rect b="b" l="l" r="r" t="t"/>
            <a:pathLst>
              <a:path extrusionOk="0" h="60684" w="59465">
                <a:moveTo>
                  <a:pt x="102" y="60685"/>
                </a:moveTo>
                <a:cubicBezTo>
                  <a:pt x="238" y="58246"/>
                  <a:pt x="-576" y="51944"/>
                  <a:pt x="915" y="46048"/>
                </a:cubicBezTo>
                <a:cubicBezTo>
                  <a:pt x="2406" y="40152"/>
                  <a:pt x="6336" y="30732"/>
                  <a:pt x="9047" y="25311"/>
                </a:cubicBezTo>
                <a:cubicBezTo>
                  <a:pt x="11758" y="19890"/>
                  <a:pt x="13994" y="16773"/>
                  <a:pt x="17179" y="13520"/>
                </a:cubicBezTo>
                <a:cubicBezTo>
                  <a:pt x="20364" y="10267"/>
                  <a:pt x="24295" y="7692"/>
                  <a:pt x="28158" y="5794"/>
                </a:cubicBezTo>
                <a:cubicBezTo>
                  <a:pt x="32021" y="3897"/>
                  <a:pt x="36358" y="3084"/>
                  <a:pt x="40356" y="2135"/>
                </a:cubicBezTo>
                <a:cubicBezTo>
                  <a:pt x="44354" y="1186"/>
                  <a:pt x="48962" y="305"/>
                  <a:pt x="52147" y="102"/>
                </a:cubicBezTo>
                <a:cubicBezTo>
                  <a:pt x="55332" y="-101"/>
                  <a:pt x="58246" y="780"/>
                  <a:pt x="59466" y="915"/>
                </a:cubicBezTo>
              </a:path>
            </a:pathLst>
          </a:custGeom>
          <a:noFill/>
          <a:ln cap="flat" cmpd="sng" w="76200">
            <a:solidFill>
              <a:schemeClr val="accent4"/>
            </a:solidFill>
            <a:prstDash val="solid"/>
            <a:round/>
            <a:headEnd len="med" w="med" type="none"/>
            <a:tailEnd len="med" w="med" type="stealth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0" name="Google Shape;19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8618" y="283700"/>
            <a:ext cx="7185314" cy="51435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1" name="Google Shape;191;p19"/>
          <p:cNvCxnSpPr/>
          <p:nvPr/>
        </p:nvCxnSpPr>
        <p:spPr>
          <a:xfrm flipH="1">
            <a:off x="4479425" y="754200"/>
            <a:ext cx="2714400" cy="3635100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dash"/>
            <a:round/>
            <a:headEnd len="med" w="med" type="none"/>
            <a:tailEnd len="med" w="med" type="stealth"/>
          </a:ln>
        </p:spPr>
      </p:cxnSp>
      <p:sp>
        <p:nvSpPr>
          <p:cNvPr id="192" name="Google Shape;192;p19"/>
          <p:cNvSpPr txBox="1"/>
          <p:nvPr/>
        </p:nvSpPr>
        <p:spPr>
          <a:xfrm>
            <a:off x="5846175" y="440825"/>
            <a:ext cx="3140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200">
                <a:solidFill>
                  <a:schemeClr val="dk1"/>
                </a:solidFill>
                <a:latin typeface="MS PGothic"/>
                <a:ea typeface="MS PGothic"/>
                <a:cs typeface="MS PGothic"/>
                <a:sym typeface="MS PGothic"/>
              </a:rPr>
              <a:t>開始地点</a:t>
            </a:r>
            <a:endParaRPr b="1" sz="2200">
              <a:solidFill>
                <a:schemeClr val="dk1"/>
              </a:solidFill>
              <a:latin typeface="MS PGothic"/>
              <a:ea typeface="MS PGothic"/>
              <a:cs typeface="MS PGothic"/>
              <a:sym typeface="MS PGothic"/>
            </a:endParaRPr>
          </a:p>
        </p:txBody>
      </p:sp>
      <p:cxnSp>
        <p:nvCxnSpPr>
          <p:cNvPr id="193" name="Google Shape;193;p19"/>
          <p:cNvCxnSpPr/>
          <p:nvPr/>
        </p:nvCxnSpPr>
        <p:spPr>
          <a:xfrm rot="10800000">
            <a:off x="925099" y="1221041"/>
            <a:ext cx="218100" cy="192600"/>
          </a:xfrm>
          <a:prstGeom prst="straightConnector1">
            <a:avLst/>
          </a:prstGeom>
          <a:noFill/>
          <a:ln cap="flat" cmpd="sng" w="38100">
            <a:solidFill>
              <a:srgbClr val="FF9900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94" name="Google Shape;194;p19"/>
          <p:cNvSpPr txBox="1"/>
          <p:nvPr/>
        </p:nvSpPr>
        <p:spPr>
          <a:xfrm>
            <a:off x="1399850" y="3396125"/>
            <a:ext cx="4253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200">
                <a:solidFill>
                  <a:schemeClr val="accent1"/>
                </a:solidFill>
                <a:latin typeface="MS PGothic"/>
                <a:ea typeface="MS PGothic"/>
                <a:cs typeface="MS PGothic"/>
                <a:sym typeface="MS PGothic"/>
              </a:rPr>
              <a:t>仮想空間の歩行軌跡(推定)</a:t>
            </a:r>
            <a:endParaRPr b="1" sz="2200">
              <a:solidFill>
                <a:schemeClr val="accent1"/>
              </a:solidFill>
              <a:latin typeface="MS PGothic"/>
              <a:ea typeface="MS PGothic"/>
              <a:cs typeface="MS PGothic"/>
              <a:sym typeface="MS PGothic"/>
            </a:endParaRPr>
          </a:p>
        </p:txBody>
      </p:sp>
      <p:sp>
        <p:nvSpPr>
          <p:cNvPr id="195" name="Google Shape;195;p19"/>
          <p:cNvSpPr txBox="1"/>
          <p:nvPr/>
        </p:nvSpPr>
        <p:spPr>
          <a:xfrm>
            <a:off x="2043650" y="1468275"/>
            <a:ext cx="3140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200">
                <a:solidFill>
                  <a:schemeClr val="accent4"/>
                </a:solidFill>
                <a:latin typeface="MS PGothic"/>
                <a:ea typeface="MS PGothic"/>
                <a:cs typeface="MS PGothic"/>
                <a:sym typeface="MS PGothic"/>
              </a:rPr>
              <a:t>実</a:t>
            </a:r>
            <a:r>
              <a:rPr b="1" lang="ja" sz="2200">
                <a:solidFill>
                  <a:schemeClr val="accent4"/>
                </a:solidFill>
                <a:latin typeface="MS PGothic"/>
                <a:ea typeface="MS PGothic"/>
                <a:cs typeface="MS PGothic"/>
                <a:sym typeface="MS PGothic"/>
              </a:rPr>
              <a:t>空間の歩行軌跡</a:t>
            </a:r>
            <a:endParaRPr b="1" sz="2200">
              <a:solidFill>
                <a:schemeClr val="accent4"/>
              </a:solidFill>
              <a:latin typeface="MS PGothic"/>
              <a:ea typeface="MS PGothic"/>
              <a:cs typeface="MS PGothic"/>
              <a:sym typeface="MS PGothic"/>
            </a:endParaRPr>
          </a:p>
        </p:txBody>
      </p:sp>
      <p:sp>
        <p:nvSpPr>
          <p:cNvPr id="196" name="Google Shape;196;p19"/>
          <p:cNvSpPr/>
          <p:nvPr/>
        </p:nvSpPr>
        <p:spPr>
          <a:xfrm>
            <a:off x="7151350" y="676425"/>
            <a:ext cx="127500" cy="1248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1" name="Google Shape;201;p20"/>
          <p:cNvPicPr preferRelativeResize="0"/>
          <p:nvPr/>
        </p:nvPicPr>
        <p:blipFill rotWithShape="1">
          <a:blip r:embed="rId3">
            <a:alphaModFix/>
          </a:blip>
          <a:srcRect b="-1978" l="0" r="0" t="1526"/>
          <a:stretch/>
        </p:blipFill>
        <p:spPr>
          <a:xfrm rot="-5400000">
            <a:off x="2820502" y="616950"/>
            <a:ext cx="4588699" cy="3973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20"/>
          <p:cNvPicPr preferRelativeResize="0"/>
          <p:nvPr/>
        </p:nvPicPr>
        <p:blipFill rotWithShape="1">
          <a:blip r:embed="rId3">
            <a:alphaModFix/>
          </a:blip>
          <a:srcRect b="-1109" l="0" r="0" t="1110"/>
          <a:stretch/>
        </p:blipFill>
        <p:spPr>
          <a:xfrm rot="-5400000">
            <a:off x="1615221" y="625767"/>
            <a:ext cx="4588699" cy="395614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423146" y="625767"/>
            <a:ext cx="4588699" cy="3956145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0"/>
          <p:cNvSpPr txBox="1"/>
          <p:nvPr/>
        </p:nvSpPr>
        <p:spPr>
          <a:xfrm>
            <a:off x="480154" y="4092308"/>
            <a:ext cx="2415300" cy="402600"/>
          </a:xfrm>
          <a:prstGeom prst="rect">
            <a:avLst/>
          </a:prstGeom>
          <a:noFill/>
          <a:ln>
            <a:noFill/>
          </a:ln>
        </p:spPr>
        <p:txBody>
          <a:bodyPr anchorCtr="0" anchor="t" bIns="70325" lIns="70325" spcFirstLastPara="1" rIns="70325" wrap="square" tIns="703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692">
                <a:solidFill>
                  <a:schemeClr val="dk1"/>
                </a:solidFill>
                <a:latin typeface="MS PGothic"/>
                <a:ea typeface="MS PGothic"/>
                <a:cs typeface="MS PGothic"/>
                <a:sym typeface="MS PGothic"/>
              </a:rPr>
              <a:t>開始地点</a:t>
            </a:r>
            <a:endParaRPr b="1" sz="1692">
              <a:solidFill>
                <a:schemeClr val="dk1"/>
              </a:solidFill>
              <a:latin typeface="MS PGothic"/>
              <a:ea typeface="MS PGothic"/>
              <a:cs typeface="MS PGothic"/>
              <a:sym typeface="MS PGothic"/>
            </a:endParaRPr>
          </a:p>
        </p:txBody>
      </p:sp>
      <p:cxnSp>
        <p:nvCxnSpPr>
          <p:cNvPr id="205" name="Google Shape;205;p20"/>
          <p:cNvCxnSpPr/>
          <p:nvPr/>
        </p:nvCxnSpPr>
        <p:spPr>
          <a:xfrm flipH="1" rot="5400000">
            <a:off x="2236592" y="525381"/>
            <a:ext cx="163500" cy="214800"/>
          </a:xfrm>
          <a:prstGeom prst="straightConnector1">
            <a:avLst/>
          </a:prstGeom>
          <a:noFill/>
          <a:ln cap="flat" cmpd="sng" w="38100">
            <a:solidFill>
              <a:srgbClr val="FF9900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06" name="Google Shape;206;p20"/>
          <p:cNvSpPr txBox="1"/>
          <p:nvPr/>
        </p:nvSpPr>
        <p:spPr>
          <a:xfrm>
            <a:off x="3364360" y="1465482"/>
            <a:ext cx="2415300" cy="402600"/>
          </a:xfrm>
          <a:prstGeom prst="rect">
            <a:avLst/>
          </a:prstGeom>
          <a:noFill/>
          <a:ln>
            <a:noFill/>
          </a:ln>
        </p:spPr>
        <p:txBody>
          <a:bodyPr anchorCtr="0" anchor="t" bIns="70325" lIns="70325" spcFirstLastPara="1" rIns="70325" wrap="square" tIns="703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692">
                <a:solidFill>
                  <a:schemeClr val="accent4"/>
                </a:solidFill>
                <a:latin typeface="MS PGothic"/>
                <a:ea typeface="MS PGothic"/>
                <a:cs typeface="MS PGothic"/>
                <a:sym typeface="MS PGothic"/>
              </a:rPr>
              <a:t>実空間の歩行軌跡</a:t>
            </a:r>
            <a:endParaRPr b="1" sz="1692">
              <a:solidFill>
                <a:schemeClr val="accent4"/>
              </a:solidFill>
              <a:latin typeface="MS PGothic"/>
              <a:ea typeface="MS PGothic"/>
              <a:cs typeface="MS PGothic"/>
              <a:sym typeface="MS PGothic"/>
            </a:endParaRPr>
          </a:p>
        </p:txBody>
      </p:sp>
      <p:sp>
        <p:nvSpPr>
          <p:cNvPr id="207" name="Google Shape;207;p20"/>
          <p:cNvSpPr/>
          <p:nvPr/>
        </p:nvSpPr>
        <p:spPr>
          <a:xfrm rot="-5400000">
            <a:off x="945718" y="4600428"/>
            <a:ext cx="98100" cy="96000"/>
          </a:xfrm>
          <a:prstGeom prst="ellipse">
            <a:avLst/>
          </a:prstGeom>
          <a:solidFill>
            <a:srgbClr val="FF0000"/>
          </a:solidFill>
          <a:ln cap="flat" cmpd="sng" w="73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0325" lIns="70325" spcFirstLastPara="1" rIns="70325" wrap="square" tIns="703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76"/>
          </a:p>
        </p:txBody>
      </p:sp>
      <p:pic>
        <p:nvPicPr>
          <p:cNvPr id="208" name="Google Shape;208;p20" title="sen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479202">
            <a:off x="921520" y="3994538"/>
            <a:ext cx="5753291" cy="752925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20"/>
          <p:cNvSpPr txBox="1"/>
          <p:nvPr/>
        </p:nvSpPr>
        <p:spPr>
          <a:xfrm>
            <a:off x="3771281" y="3629701"/>
            <a:ext cx="3271800" cy="402600"/>
          </a:xfrm>
          <a:prstGeom prst="rect">
            <a:avLst/>
          </a:prstGeom>
          <a:noFill/>
          <a:ln>
            <a:noFill/>
          </a:ln>
        </p:spPr>
        <p:txBody>
          <a:bodyPr anchorCtr="0" anchor="t" bIns="70325" lIns="70325" spcFirstLastPara="1" rIns="70325" wrap="square" tIns="703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692">
                <a:solidFill>
                  <a:schemeClr val="accent1"/>
                </a:solidFill>
                <a:latin typeface="MS PGothic"/>
                <a:ea typeface="MS PGothic"/>
                <a:cs typeface="MS PGothic"/>
                <a:sym typeface="MS PGothic"/>
              </a:rPr>
              <a:t>仮想空間の歩行軌跡</a:t>
            </a:r>
            <a:endParaRPr b="1" sz="1692">
              <a:solidFill>
                <a:schemeClr val="accent1"/>
              </a:solidFill>
              <a:latin typeface="MS PGothic"/>
              <a:ea typeface="MS PGothic"/>
              <a:cs typeface="MS PGothic"/>
              <a:sym typeface="MS PGothic"/>
            </a:endParaRPr>
          </a:p>
        </p:txBody>
      </p:sp>
      <p:cxnSp>
        <p:nvCxnSpPr>
          <p:cNvPr id="210" name="Google Shape;210;p20"/>
          <p:cNvCxnSpPr/>
          <p:nvPr/>
        </p:nvCxnSpPr>
        <p:spPr>
          <a:xfrm flipH="1" rot="10800000">
            <a:off x="6393617" y="4136881"/>
            <a:ext cx="153000" cy="25500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med" w="med" type="none"/>
            <a:tailEnd len="med" w="med" type="stealth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" name="Google Shape;215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2776754" cy="483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81554" y="152400"/>
            <a:ext cx="2181516" cy="4838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1" name="Google Shape;221;p22"/>
          <p:cNvGrpSpPr/>
          <p:nvPr/>
        </p:nvGrpSpPr>
        <p:grpSpPr>
          <a:xfrm>
            <a:off x="1611742" y="3994381"/>
            <a:ext cx="1805379" cy="928050"/>
            <a:chOff x="1550350" y="2507105"/>
            <a:chExt cx="3499474" cy="1798895"/>
          </a:xfrm>
        </p:grpSpPr>
        <p:sp>
          <p:nvSpPr>
            <p:cNvPr id="222" name="Google Shape;222;p22"/>
            <p:cNvSpPr/>
            <p:nvPr/>
          </p:nvSpPr>
          <p:spPr>
            <a:xfrm>
              <a:off x="1550350" y="3557000"/>
              <a:ext cx="1911900" cy="665100"/>
            </a:xfrm>
            <a:prstGeom prst="roundRect">
              <a:avLst>
                <a:gd fmla="val 37494" name="adj"/>
              </a:avLst>
            </a:prstGeom>
            <a:solidFill>
              <a:srgbClr val="999999"/>
            </a:solidFill>
            <a:ln cap="flat" cmpd="sng" w="49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175" lIns="47175" spcFirstLastPara="1" rIns="47175" wrap="square" tIns="471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22"/>
            </a:p>
          </p:txBody>
        </p:sp>
        <p:sp>
          <p:nvSpPr>
            <p:cNvPr id="223" name="Google Shape;223;p22"/>
            <p:cNvSpPr/>
            <p:nvPr/>
          </p:nvSpPr>
          <p:spPr>
            <a:xfrm>
              <a:off x="2002425" y="2996725"/>
              <a:ext cx="997500" cy="467700"/>
            </a:xfrm>
            <a:prstGeom prst="roundRect">
              <a:avLst>
                <a:gd fmla="val 16667" name="adj"/>
              </a:avLst>
            </a:prstGeom>
            <a:solidFill>
              <a:schemeClr val="dk2"/>
            </a:solidFill>
            <a:ln cap="flat" cmpd="sng" w="49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175" lIns="47175" spcFirstLastPara="1" rIns="47175" wrap="square" tIns="471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22"/>
            </a:p>
          </p:txBody>
        </p:sp>
        <p:sp>
          <p:nvSpPr>
            <p:cNvPr id="224" name="Google Shape;224;p22"/>
            <p:cNvSpPr/>
            <p:nvPr/>
          </p:nvSpPr>
          <p:spPr>
            <a:xfrm>
              <a:off x="1924425" y="3048700"/>
              <a:ext cx="1153500" cy="1257300"/>
            </a:xfrm>
            <a:prstGeom prst="ellipse">
              <a:avLst/>
            </a:prstGeom>
            <a:solidFill>
              <a:schemeClr val="lt2"/>
            </a:solidFill>
            <a:ln cap="flat" cmpd="sng" w="49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175" lIns="47175" spcFirstLastPara="1" rIns="47175" wrap="square" tIns="471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ja" sz="841"/>
                <a:t>被験者</a:t>
              </a:r>
              <a:endParaRPr sz="841"/>
            </a:p>
          </p:txBody>
        </p:sp>
        <p:sp>
          <p:nvSpPr>
            <p:cNvPr id="225" name="Google Shape;225;p22"/>
            <p:cNvSpPr/>
            <p:nvPr/>
          </p:nvSpPr>
          <p:spPr>
            <a:xfrm>
              <a:off x="2251725" y="2571750"/>
              <a:ext cx="498900" cy="332400"/>
            </a:xfrm>
            <a:prstGeom prst="upArrow">
              <a:avLst>
                <a:gd fmla="val 50000" name="adj1"/>
                <a:gd fmla="val 50000" name="adj2"/>
              </a:avLst>
            </a:prstGeom>
            <a:solidFill>
              <a:schemeClr val="lt2"/>
            </a:solidFill>
            <a:ln cap="flat" cmpd="sng" w="49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175" lIns="47175" spcFirstLastPara="1" rIns="47175" wrap="square" tIns="471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22"/>
            </a:p>
          </p:txBody>
        </p:sp>
        <p:sp>
          <p:nvSpPr>
            <p:cNvPr id="226" name="Google Shape;226;p22"/>
            <p:cNvSpPr txBox="1"/>
            <p:nvPr/>
          </p:nvSpPr>
          <p:spPr>
            <a:xfrm>
              <a:off x="2750624" y="2507105"/>
              <a:ext cx="2299200" cy="57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7175" lIns="47175" spcFirstLastPara="1" rIns="47175" wrap="square" tIns="4717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ja" sz="1303">
                  <a:solidFill>
                    <a:schemeClr val="dk2"/>
                  </a:solidFill>
                </a:rPr>
                <a:t>視</a:t>
              </a:r>
              <a:r>
                <a:rPr lang="ja" sz="1303">
                  <a:solidFill>
                    <a:schemeClr val="dk2"/>
                  </a:solidFill>
                </a:rPr>
                <a:t>線方向</a:t>
              </a:r>
              <a:endParaRPr sz="1303">
                <a:solidFill>
                  <a:schemeClr val="dk2"/>
                </a:solidFill>
              </a:endParaRPr>
            </a:p>
          </p:txBody>
        </p:sp>
      </p:grpSp>
      <p:sp>
        <p:nvSpPr>
          <p:cNvPr id="227" name="Google Shape;227;p22"/>
          <p:cNvSpPr/>
          <p:nvPr/>
        </p:nvSpPr>
        <p:spPr>
          <a:xfrm>
            <a:off x="2106525" y="1844225"/>
            <a:ext cx="1277375" cy="2150140"/>
          </a:xfrm>
          <a:custGeom>
            <a:rect b="b" l="l" r="r" t="t"/>
            <a:pathLst>
              <a:path extrusionOk="0" h="118973" w="51095">
                <a:moveTo>
                  <a:pt x="324" y="118973"/>
                </a:moveTo>
                <a:cubicBezTo>
                  <a:pt x="387" y="114995"/>
                  <a:pt x="-623" y="104574"/>
                  <a:pt x="703" y="95102"/>
                </a:cubicBezTo>
                <a:cubicBezTo>
                  <a:pt x="2029" y="85630"/>
                  <a:pt x="3608" y="74264"/>
                  <a:pt x="8281" y="62139"/>
                </a:cubicBezTo>
                <a:cubicBezTo>
                  <a:pt x="12954" y="50015"/>
                  <a:pt x="21605" y="32712"/>
                  <a:pt x="28741" y="22355"/>
                </a:cubicBezTo>
                <a:cubicBezTo>
                  <a:pt x="35877" y="11999"/>
                  <a:pt x="47370" y="3726"/>
                  <a:pt x="51096" y="0"/>
                </a:cubicBezTo>
              </a:path>
            </a:pathLst>
          </a:cu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stealth"/>
          </a:ln>
        </p:spPr>
      </p:sp>
      <p:sp>
        <p:nvSpPr>
          <p:cNvPr id="228" name="Google Shape;228;p22"/>
          <p:cNvSpPr txBox="1"/>
          <p:nvPr/>
        </p:nvSpPr>
        <p:spPr>
          <a:xfrm>
            <a:off x="1063375" y="1024675"/>
            <a:ext cx="2074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800">
                <a:solidFill>
                  <a:schemeClr val="accent1"/>
                </a:solidFill>
              </a:rPr>
              <a:t>仮想空間の経路</a:t>
            </a:r>
            <a:endParaRPr b="1" sz="1800">
              <a:solidFill>
                <a:schemeClr val="accent1"/>
              </a:solidFill>
            </a:endParaRPr>
          </a:p>
        </p:txBody>
      </p:sp>
      <p:sp>
        <p:nvSpPr>
          <p:cNvPr id="229" name="Google Shape;229;p22"/>
          <p:cNvSpPr txBox="1"/>
          <p:nvPr/>
        </p:nvSpPr>
        <p:spPr>
          <a:xfrm>
            <a:off x="2523600" y="1368375"/>
            <a:ext cx="2954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600">
                <a:solidFill>
                  <a:schemeClr val="accent4"/>
                </a:solidFill>
              </a:rPr>
              <a:t>現実空間の経路</a:t>
            </a:r>
            <a:endParaRPr b="1" sz="1600">
              <a:solidFill>
                <a:schemeClr val="accent4"/>
              </a:solidFill>
            </a:endParaRPr>
          </a:p>
        </p:txBody>
      </p:sp>
      <p:cxnSp>
        <p:nvCxnSpPr>
          <p:cNvPr id="230" name="Google Shape;230;p22"/>
          <p:cNvCxnSpPr/>
          <p:nvPr/>
        </p:nvCxnSpPr>
        <p:spPr>
          <a:xfrm>
            <a:off x="935050" y="1365375"/>
            <a:ext cx="10200" cy="26226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stealth"/>
            <a:tailEnd len="med" w="med" type="stealth"/>
          </a:ln>
        </p:spPr>
      </p:cxnSp>
      <p:sp>
        <p:nvSpPr>
          <p:cNvPr id="231" name="Google Shape;231;p22"/>
          <p:cNvSpPr txBox="1"/>
          <p:nvPr/>
        </p:nvSpPr>
        <p:spPr>
          <a:xfrm>
            <a:off x="883650" y="2939125"/>
            <a:ext cx="728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800">
                <a:solidFill>
                  <a:schemeClr val="dk2"/>
                </a:solidFill>
              </a:rPr>
              <a:t>20m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32" name="Google Shape;232;p22"/>
          <p:cNvSpPr txBox="1"/>
          <p:nvPr/>
        </p:nvSpPr>
        <p:spPr>
          <a:xfrm>
            <a:off x="6097250" y="2171550"/>
            <a:ext cx="2823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>
                <a:solidFill>
                  <a:schemeClr val="dk1"/>
                </a:solidFill>
              </a:rPr>
              <a:t>図1 直進移動量の操作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33" name="Google Shape;233;p22"/>
          <p:cNvSpPr txBox="1"/>
          <p:nvPr/>
        </p:nvSpPr>
        <p:spPr>
          <a:xfrm>
            <a:off x="6117500" y="2571750"/>
            <a:ext cx="2783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>
                <a:solidFill>
                  <a:schemeClr val="dk1"/>
                </a:solidFill>
              </a:rPr>
              <a:t>図2 回転量の操作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34" name="Google Shape;234;p22"/>
          <p:cNvSpPr txBox="1"/>
          <p:nvPr/>
        </p:nvSpPr>
        <p:spPr>
          <a:xfrm>
            <a:off x="6162200" y="2904900"/>
            <a:ext cx="2783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>
                <a:solidFill>
                  <a:schemeClr val="dk1"/>
                </a:solidFill>
              </a:rPr>
              <a:t>図3 曲率操作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35" name="Google Shape;235;p22"/>
          <p:cNvSpPr txBox="1"/>
          <p:nvPr/>
        </p:nvSpPr>
        <p:spPr>
          <a:xfrm>
            <a:off x="6162200" y="3434075"/>
            <a:ext cx="269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>
                <a:solidFill>
                  <a:schemeClr val="dk1"/>
                </a:solidFill>
              </a:rPr>
              <a:t>図4 曲げ操作 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36" name="Google Shape;236;p22"/>
          <p:cNvSpPr txBox="1"/>
          <p:nvPr/>
        </p:nvSpPr>
        <p:spPr>
          <a:xfrm>
            <a:off x="6162200" y="3883600"/>
            <a:ext cx="2426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>
                <a:solidFill>
                  <a:schemeClr val="dk1"/>
                </a:solidFill>
              </a:rPr>
              <a:t>図5 比較実験の模式図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237" name="Google Shape;237;p22"/>
          <p:cNvCxnSpPr/>
          <p:nvPr/>
        </p:nvCxnSpPr>
        <p:spPr>
          <a:xfrm flipH="1" rot="10800000">
            <a:off x="2098825" y="1368375"/>
            <a:ext cx="3300" cy="2616600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dash"/>
            <a:round/>
            <a:headEnd len="med" w="med" type="none"/>
            <a:tailEnd len="med" w="med" type="stealth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