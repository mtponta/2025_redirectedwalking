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notesMasterIdLst>
    <p:notesMasterId r:id="rId11"/>
  </p:notesMasterIdLst>
  <p:sldIdLst>
    <p:sldId id="269" r:id="rId3"/>
    <p:sldId id="266" r:id="rId4"/>
    <p:sldId id="265" r:id="rId5"/>
    <p:sldId id="260" r:id="rId6"/>
    <p:sldId id="262" r:id="rId7"/>
    <p:sldId id="264" r:id="rId8"/>
    <p:sldId id="261" r:id="rId9"/>
    <p:sldId id="267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012"/>
    <a:srgbClr val="4569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495" autoAdjust="0"/>
  </p:normalViewPr>
  <p:slideViewPr>
    <p:cSldViewPr snapToGrid="0">
      <p:cViewPr varScale="1">
        <p:scale>
          <a:sx n="110" d="100"/>
          <a:sy n="110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24038-C402-44F1-89BD-4DE191AEC4C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0C8BD-1D1C-48E5-AF85-D837E666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07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90</a:t>
            </a:r>
            <a:r>
              <a:rPr kumimoji="1" lang="ja-JP" altLang="en-US" dirty="0"/>
              <a:t>後ろを向いて、</a:t>
            </a:r>
            <a:r>
              <a:rPr kumimoji="1" lang="en-US" altLang="ja-JP" dirty="0"/>
              <a:t>90</a:t>
            </a:r>
            <a:r>
              <a:rPr kumimoji="1" lang="ja-JP" altLang="en-US" dirty="0"/>
              <a:t>戻る間に、</a:t>
            </a:r>
            <a:r>
              <a:rPr kumimoji="1" lang="en-US" altLang="ja-JP" dirty="0"/>
              <a:t>RDW</a:t>
            </a:r>
            <a:r>
              <a:rPr kumimoji="1" lang="ja-JP" altLang="en-US" dirty="0"/>
              <a:t>を適応することで、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0C8BD-1D1C-48E5-AF85-D837E6662AD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673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1AB4-350B-C76F-1283-FDAB2865A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1ACA3F-C5A4-5ABA-8999-883A09F6D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25DF42-1360-DFC2-D39D-4EF7C5700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90</a:t>
            </a:r>
            <a:r>
              <a:rPr kumimoji="1" lang="ja-JP" altLang="en-US" dirty="0"/>
              <a:t>後ろを向いて、</a:t>
            </a:r>
            <a:r>
              <a:rPr kumimoji="1" lang="en-US" altLang="ja-JP" dirty="0"/>
              <a:t>90</a:t>
            </a:r>
            <a:r>
              <a:rPr kumimoji="1" lang="ja-JP" altLang="en-US" dirty="0"/>
              <a:t>戻る間に、</a:t>
            </a:r>
            <a:r>
              <a:rPr kumimoji="1" lang="en-US" altLang="ja-JP" dirty="0"/>
              <a:t>RDW</a:t>
            </a:r>
            <a:r>
              <a:rPr kumimoji="1" lang="ja-JP" altLang="en-US" dirty="0"/>
              <a:t>を適応することで、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67BF464-E84B-18D5-BC77-AFAB228A6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0C8BD-1D1C-48E5-AF85-D837E6662AD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317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8BE788-F04B-4C15-4B4D-C8C2C8AE0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7B6CF01-4C1C-BD1A-F6D1-B33A92510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3003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3AC782-3D14-9A0D-81C3-33062D2E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ABD6-1ED2-4B2A-B8F4-8119F7005442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12EDD3-A713-2E92-0EBD-471DE5EF2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0BD725-44DD-AA4C-45BF-56751901B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1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B30DF4-74AB-90E6-13D1-C4B1312E6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297" y="261159"/>
            <a:ext cx="10515600" cy="83975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AE2279-51A3-F46E-58A4-B345F5E9E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167" y="1586040"/>
            <a:ext cx="11112760" cy="4590923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297B34-917D-E37B-AB62-E282CDC4D6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02567" cy="365125"/>
          </a:xfrm>
        </p:spPr>
        <p:txBody>
          <a:bodyPr/>
          <a:lstStyle/>
          <a:p>
            <a:fld id="{863579D6-861B-4460-85F5-658D33A61D57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A13363-3415-F2F3-4FB4-D9CADF2D9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95331" y="6356350"/>
            <a:ext cx="6895322" cy="365125"/>
          </a:xfrm>
        </p:spPr>
        <p:txBody>
          <a:bodyPr/>
          <a:lstStyle>
            <a:lvl1pPr>
              <a:defRPr sz="1600"/>
            </a:lvl1pPr>
          </a:lstStyle>
          <a:p>
            <a:r>
              <a:rPr lang="ja-JP" altLang="en-US"/>
              <a:t>視覚効果による視線誘導が</a:t>
            </a:r>
            <a:r>
              <a:rPr lang="en-US" altLang="ja-JP"/>
              <a:t>Redirected Walking</a:t>
            </a:r>
            <a:r>
              <a:rPr lang="ja-JP" altLang="en-US"/>
              <a:t>に及ぼす影響​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DB5229-8508-FCEF-A55B-9AFB5194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3918" y="6356350"/>
            <a:ext cx="1929882" cy="365125"/>
          </a:xfrm>
        </p:spPr>
        <p:txBody>
          <a:bodyPr/>
          <a:lstStyle/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950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9A099D-8996-C966-2DCB-9CCFF4A73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94D74C-1D60-EB20-A154-5EDE1FA52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95F42E-7951-7F81-16DA-A099F37E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EB38B-442B-4567-B56B-01011B6A45D1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FA6D8A-CBDF-9680-90B7-B59997091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E793AB-1779-3422-54BA-72F064E6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6274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CA84B8-B965-7553-D62D-B00163D6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ECDA25-4E69-FD4C-36BD-F3217300A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4D9266-78B4-D5C5-8B47-0885A3926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950702-3707-DEE2-6E0E-AA762298D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8963-5C54-433F-B621-B877DCFA8CDF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626E2F-B7C5-0AC4-BAF4-1D6C9413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E1F950-3F49-8533-1426-07728194A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888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89DC77-5108-62BA-0CC6-77ED9D281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BFD38D-9B3C-7543-24AB-FD21F3593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7981D1-B413-8D5F-B930-37415FBA3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74407CE-4530-6A4F-29E8-BC8518113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4763555-1CB7-136C-6A0F-C7FFE6440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8A1A8DE-96E6-21E2-971D-78719FA55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7871-0DFF-4811-AE21-EEFFA476ACD7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90C1A4A-5FD5-58E9-6FCC-9C9E5C300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54853E5-FCC2-9B5E-91E6-01CD63FC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22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9717B7-0439-D9B8-DDD9-9F43DFCE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3F7FB9E-22EB-5814-1D11-904943B95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68E7-952A-4531-BCDE-C7E94419D680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2B11E39-02AE-A304-9FFB-EA04CED8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1E48ADA-DB15-1D2A-5289-2C8FEC41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045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FD99C0D-64DB-2C3F-6B2F-D2B280ECD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ADEB1-64E0-43C2-8107-940AC07D9442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21068AE-3159-17E7-DC91-D6182229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179D86-6191-4790-BF7D-F33B752A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0134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9849C9-BE6F-9811-0164-0A72A1F78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B007B1-855B-9A4D-753A-DEF051226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F139DB-88CB-B475-D967-8B6DE24C2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BDCF8F-9BC3-8CCC-EDAC-741683FF9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F01ED-26A8-4344-87E9-7871ABA248A9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09D18E-8416-4CE9-E6D8-26E75F11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3D0CFA-2DA3-FC7C-5650-323D4C70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585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DECFCD-EBB7-19DE-11FA-DE0279C9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9DD46E4-6E95-4605-CC96-6E84B537D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DB8AC5-A959-0D7F-780A-64A02C10D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F745FE-DD15-217F-C424-DE02CBF1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19C2-697A-4B10-97B5-1579F6B59430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EDC55D-3603-A373-825E-A78E54253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3BE01C-9055-3A5B-E0F4-FC9CBDD8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009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D25586-7A9F-94F3-FDF5-30EAD0A6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91EE8B-3B20-C955-6D09-AE6705209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216B0C-D519-0475-C099-F3580717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6F43-EBF4-4093-BF14-AC0CE5A55DE1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D15F25-18B5-47C4-8C83-6F3A89E0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FCF8F7-AAF5-99BF-9A9E-9773E6C61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3476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63F9FA0-7A6F-99A6-DD03-A3BAFAF0A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B449B1-AAFC-F7CC-C7AA-A44556A0D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14FCCD-E21F-C4C3-8F3D-722B1BB1A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140-C88B-40A9-AB9E-3B0741585044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C66D5D-07C5-59CD-F151-90355723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F9C1FB-1C46-CB90-E3FE-B026AC1E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67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EE88-92D4-4E8F-B3F3-055C9D252955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C6BC-5AEF-4200-BBD5-E1632281E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1000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607-9610-47AD-A22B-AC14961CE3D2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C6BC-5AEF-4200-BBD5-E1632281E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634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DE6E-0B4A-4186-8556-7E3B983F0F4A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C6BC-5AEF-4200-BBD5-E1632281E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9081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96CF4-4D46-485F-89A0-0C0B08247E3F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C6BC-5AEF-4200-BBD5-E1632281E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7902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3FCC-FD5A-4A2F-B62C-B9D684B1431F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C6BC-5AEF-4200-BBD5-E1632281E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222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FE915-E77D-49EF-B867-4D8C77E3220C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C6BC-5AEF-4200-BBD5-E1632281E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2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27954-8DD2-494E-BFBF-E91C9329EB0F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C6BC-5AEF-4200-BBD5-E1632281E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24512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D3743-A972-459D-9994-64B1198577EB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C6BC-5AEF-4200-BBD5-E1632281E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1204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936-FA81-4DFB-BDD0-53EB2EC98F5A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C6BC-5AEF-4200-BBD5-E1632281E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6137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437A-23CE-458A-A0AA-04F4D9EB9B17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C6BC-5AEF-4200-BBD5-E1632281E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9462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B1CC-0B94-4923-9195-63A8A0C4BABF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C6BC-5AEF-4200-BBD5-E1632281E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02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6B5CE3C-7646-B8D8-3EDC-61238C3AD8C6}"/>
              </a:ext>
            </a:extLst>
          </p:cNvPr>
          <p:cNvSpPr/>
          <p:nvPr userDrawn="1"/>
        </p:nvSpPr>
        <p:spPr>
          <a:xfrm>
            <a:off x="0" y="0"/>
            <a:ext cx="12192000" cy="1194486"/>
          </a:xfrm>
          <a:prstGeom prst="rect">
            <a:avLst/>
          </a:prstGeom>
          <a:solidFill>
            <a:srgbClr val="2030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BA926E-67E4-F62C-3DBD-7B6AE6A6C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762"/>
            <a:ext cx="10515600" cy="793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1ACC36-4CA1-6C05-FA43-5DAD00A37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86040"/>
            <a:ext cx="10515600" cy="4590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4C1102-819E-BFCB-C299-895C00DBE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88DF8-5DF8-4295-BF78-B87C4FAB88C4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9E3550-C165-A533-CD65-554B6B393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416EE9-EB5F-F2AD-8974-C477C8E11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8278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kern="1200">
          <a:solidFill>
            <a:schemeClr val="bg1"/>
          </a:solidFill>
          <a:latin typeface="UD デジタル 教科書体 NK-B" panose="02020700000000000000" pitchFamily="18" charset="-128"/>
          <a:ea typeface="UD デジタル 教科書体 NK-B" panose="02020700000000000000" pitchFamily="18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デジタル 教科書体 NK-B" panose="02020700000000000000" pitchFamily="18" charset="-128"/>
          <a:ea typeface="UD デジタル 教科書体 NK-B" panose="02020700000000000000" pitchFamily="18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UD デジタル 教科書体 NK-B" panose="02020700000000000000" pitchFamily="18" charset="-128"/>
          <a:ea typeface="UD デジタル 教科書体 NK-B" panose="02020700000000000000" pitchFamily="18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UD デジタル 教科書体 NK-B" panose="02020700000000000000" pitchFamily="18" charset="-128"/>
          <a:ea typeface="UD デジタル 教科書体 NK-B" panose="02020700000000000000" pitchFamily="18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UD デジタル 教科書体 NK-B" panose="02020700000000000000" pitchFamily="18" charset="-128"/>
          <a:ea typeface="UD デジタル 教科書体 NK-B" panose="02020700000000000000" pitchFamily="18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UD デジタル 教科書体 NK-B" panose="02020700000000000000" pitchFamily="18" charset="-128"/>
          <a:ea typeface="UD デジタル 教科書体 NK-B" panose="02020700000000000000" pitchFamily="18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978B20B-A1A4-4E5E-9F31-5365522D833E}" type="datetime1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kumimoji="1" lang="ja-JP" altLang="en-US"/>
              <a:t>視覚効果による視線誘導が</a:t>
            </a:r>
            <a:r>
              <a:rPr kumimoji="1" lang="en-US" altLang="ja-JP"/>
              <a:t>Redirected Walking</a:t>
            </a:r>
            <a:r>
              <a:rPr kumimoji="1" lang="ja-JP" altLang="en-US"/>
              <a:t>に及ぼす影響​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F71D9-F208-4F3C-9061-7460F85E89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00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5C218-E12D-D56A-B223-EB4DB3C39F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視覚効果による視線誘導が</a:t>
            </a:r>
            <a:r>
              <a:rPr lang="en-US" altLang="ja-JP" dirty="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Redirected Walking</a:t>
            </a:r>
            <a:br>
              <a:rPr lang="en-US" altLang="ja-JP" dirty="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</a:br>
            <a:r>
              <a:rPr lang="ja-JP" altLang="en-US" dirty="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に及ぼす影響の研究</a:t>
            </a:r>
            <a:endParaRPr kumimoji="1" lang="ja-JP" altLang="en-US" dirty="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C0E37EA-54A5-87F6-AF26-DBEE21FA67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5S38 </a:t>
            </a:r>
            <a:r>
              <a:rPr kumimoji="1" lang="ja-JP" altLang="en-US" dirty="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矢吹隼人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BF4136-F29E-5CF0-6606-CEFD2CEB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視覚効果による視線誘導が</a:t>
            </a:r>
            <a:r>
              <a:rPr kumimoji="1" lang="en-US" altLang="ja-JP" dirty="0"/>
              <a:t>Redirected Walking</a:t>
            </a:r>
            <a:r>
              <a:rPr kumimoji="1" lang="ja-JP" altLang="en-US" dirty="0"/>
              <a:t>に及ぼす影響​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63E06C-6C7D-15C5-6F1C-BFA1F945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C6BC-5AEF-4200-BBD5-E1632281EFA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246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3163-4DB5-DF3F-1CF4-E0E5FDD7B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4E5021-1C78-199D-F1FD-ADFB3D759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RDW(Redirected Walking)</a:t>
            </a:r>
            <a:r>
              <a:rPr kumimoji="1" lang="ja-JP" altLang="en-US" dirty="0"/>
              <a:t>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FC63F4-19D7-5468-AAE9-415329FA0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167" y="1586040"/>
            <a:ext cx="11112760" cy="597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★</a:t>
            </a:r>
            <a:r>
              <a:rPr lang="ja-JP" altLang="en-US" dirty="0"/>
              <a:t> </a:t>
            </a:r>
            <a:r>
              <a:rPr lang="en-US" altLang="ja-JP" dirty="0"/>
              <a:t>VR</a:t>
            </a:r>
            <a:r>
              <a:rPr lang="ja-JP" altLang="en-US" dirty="0"/>
              <a:t>で、錯覚を用いて</a:t>
            </a:r>
            <a:r>
              <a:rPr lang="ja-JP" altLang="en-US" sz="3200" dirty="0">
                <a:solidFill>
                  <a:srgbClr val="FF0000"/>
                </a:solidFill>
              </a:rPr>
              <a:t>広い</a:t>
            </a:r>
            <a:r>
              <a:rPr lang="ja-JP" altLang="en-US" dirty="0"/>
              <a:t>仮想空間を実現する技術​</a:t>
            </a:r>
            <a:endParaRPr kumimoji="1" lang="en-US" altLang="ja-JP" dirty="0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BF92176-5E76-9969-2896-B001B0FC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 dirty="0"/>
              <a:t>視覚効果による視線誘導が</a:t>
            </a:r>
            <a:r>
              <a:rPr lang="en-US" altLang="ja-JP" dirty="0"/>
              <a:t>Redirected Walking</a:t>
            </a:r>
            <a:r>
              <a:rPr lang="ja-JP" altLang="en-US" dirty="0"/>
              <a:t>に及ぼす影響​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9141DB65-D5F5-02EC-6C76-0A9BAC38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2</a:t>
            </a:fld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4E6C582-2B67-1A6E-0EF3-57CE99CBF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331" y="2281441"/>
            <a:ext cx="5741037" cy="4074909"/>
          </a:xfrm>
          <a:prstGeom prst="rect">
            <a:avLst/>
          </a:prstGeo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4D1893F-A190-FEE6-B96E-D4DD7D8711DA}"/>
              </a:ext>
            </a:extLst>
          </p:cNvPr>
          <p:cNvSpPr txBox="1">
            <a:spLocks/>
          </p:cNvSpPr>
          <p:nvPr/>
        </p:nvSpPr>
        <p:spPr>
          <a:xfrm>
            <a:off x="1674014" y="2590085"/>
            <a:ext cx="2125629" cy="597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3600" dirty="0"/>
              <a:t>事例</a:t>
            </a:r>
            <a:r>
              <a:rPr lang="ja-JP" altLang="en-US" dirty="0"/>
              <a:t>​</a:t>
            </a:r>
            <a:endParaRPr lang="en-US" altLang="ja-JP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41D0A760-0686-2024-A396-817CDAD1C805}"/>
              </a:ext>
            </a:extLst>
          </p:cNvPr>
          <p:cNvSpPr txBox="1">
            <a:spLocks/>
          </p:cNvSpPr>
          <p:nvPr/>
        </p:nvSpPr>
        <p:spPr>
          <a:xfrm>
            <a:off x="7387212" y="5175824"/>
            <a:ext cx="2685862" cy="597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3200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DANGEROUS!</a:t>
            </a:r>
            <a:r>
              <a:rPr lang="ja-JP" altLang="en-US" dirty="0"/>
              <a:t>​</a:t>
            </a:r>
            <a:endParaRPr lang="en-US" altLang="ja-JP" dirty="0"/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8B994363-ADF3-8003-C55C-6F459C63E683}"/>
              </a:ext>
            </a:extLst>
          </p:cNvPr>
          <p:cNvSpPr txBox="1">
            <a:spLocks/>
          </p:cNvSpPr>
          <p:nvPr/>
        </p:nvSpPr>
        <p:spPr>
          <a:xfrm>
            <a:off x="7764028" y="2632481"/>
            <a:ext cx="2753958" cy="1109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仮想空間に比べ、</a:t>
            </a:r>
            <a:br>
              <a:rPr lang="en-US" altLang="ja-JP" sz="2000" dirty="0"/>
            </a:br>
            <a:r>
              <a:rPr lang="ja-JP" altLang="en-US" sz="2000" dirty="0"/>
              <a:t>現実空間が狭かった​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288115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40DE-4C42-335A-03D2-6661DAD26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357B53-A4E7-DF67-BCA0-DFECA761D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RDW(Redirected Walking)</a:t>
            </a:r>
            <a:r>
              <a:rPr kumimoji="1" lang="ja-JP" altLang="en-US" dirty="0"/>
              <a:t>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7115D3-4009-2EFD-E86B-2E3FDAB9C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167" y="1586040"/>
            <a:ext cx="11112760" cy="597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★</a:t>
            </a:r>
            <a:r>
              <a:rPr lang="ja-JP" altLang="en-US" dirty="0"/>
              <a:t> </a:t>
            </a:r>
            <a:r>
              <a:rPr lang="en-US" altLang="ja-JP" dirty="0"/>
              <a:t>VR</a:t>
            </a:r>
            <a:r>
              <a:rPr lang="ja-JP" altLang="en-US" dirty="0"/>
              <a:t>で、錯覚を用いて</a:t>
            </a:r>
            <a:r>
              <a:rPr lang="ja-JP" altLang="en-US" sz="3200" dirty="0">
                <a:solidFill>
                  <a:srgbClr val="FF0000"/>
                </a:solidFill>
              </a:rPr>
              <a:t>広い</a:t>
            </a:r>
            <a:r>
              <a:rPr lang="ja-JP" altLang="en-US" dirty="0"/>
              <a:t>仮想空間を実現する技術​</a:t>
            </a:r>
            <a:endParaRPr kumimoji="1" lang="en-US" altLang="ja-JP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5BBA7B8-F580-D270-F9F3-225B5DCAF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093" y="2389022"/>
            <a:ext cx="2388573" cy="288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490F161-0B51-2C0A-1AA0-E407C2B94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095" y="2751868"/>
            <a:ext cx="3167766" cy="228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09EB12D-8372-7CE4-CE9F-3DDF2FF5C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8874" y="2426079"/>
            <a:ext cx="2234249" cy="2844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9ED43E55-A760-D51F-F634-1EAA0E079554}"/>
              </a:ext>
            </a:extLst>
          </p:cNvPr>
          <p:cNvSpPr txBox="1">
            <a:spLocks/>
          </p:cNvSpPr>
          <p:nvPr/>
        </p:nvSpPr>
        <p:spPr>
          <a:xfrm>
            <a:off x="569167" y="5608768"/>
            <a:ext cx="11112760" cy="597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3200" dirty="0">
                <a:solidFill>
                  <a:srgbClr val="FF0000"/>
                </a:solidFill>
              </a:rPr>
              <a:t>仮想空間と現実空間の動作量をズラす</a:t>
            </a:r>
            <a:endParaRPr lang="en-US" altLang="ja-JP" dirty="0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5D62AC71-5923-CCF5-EBEB-DD3D3847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 dirty="0"/>
              <a:t>視覚効果による視線誘導が</a:t>
            </a:r>
            <a:r>
              <a:rPr lang="en-US" altLang="ja-JP" dirty="0"/>
              <a:t>Redirected Walking</a:t>
            </a:r>
            <a:r>
              <a:rPr lang="ja-JP" altLang="en-US" dirty="0"/>
              <a:t>に及ぼす影響​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C018172A-C71E-7144-3AA4-2DB5D5DB3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D9321A7-4AD3-A260-B710-DF00251F04D0}"/>
              </a:ext>
            </a:extLst>
          </p:cNvPr>
          <p:cNvCxnSpPr>
            <a:cxnSpLocks/>
          </p:cNvCxnSpPr>
          <p:nvPr/>
        </p:nvCxnSpPr>
        <p:spPr>
          <a:xfrm>
            <a:off x="4127863" y="2183363"/>
            <a:ext cx="0" cy="3259494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5455E22-BC17-934B-23BD-F0F70F570526}"/>
              </a:ext>
            </a:extLst>
          </p:cNvPr>
          <p:cNvCxnSpPr>
            <a:cxnSpLocks/>
          </p:cNvCxnSpPr>
          <p:nvPr/>
        </p:nvCxnSpPr>
        <p:spPr>
          <a:xfrm>
            <a:off x="8146869" y="2183363"/>
            <a:ext cx="0" cy="3320454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806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D6090-0B03-8485-55C5-ECDFB755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DE0EE-57F2-6E27-6038-3006D07F7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RDW</a:t>
            </a:r>
            <a:r>
              <a:rPr lang="ja-JP" altLang="en-US" dirty="0"/>
              <a:t>の問題点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D2E599-8865-62D4-C120-0E4BB4B67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167" y="1586040"/>
            <a:ext cx="11112760" cy="597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「仮想空間と現実空間の動作量をズラす」</a:t>
            </a:r>
            <a:endParaRPr lang="en-US" altLang="ja-JP" dirty="0"/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B1950699-4BAE-787F-7E9B-B3E7DF848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視覚効果による視線誘導が</a:t>
            </a:r>
            <a:r>
              <a:rPr lang="en-US" altLang="ja-JP"/>
              <a:t>Redirected Walking</a:t>
            </a:r>
            <a:r>
              <a:rPr lang="ja-JP" altLang="en-US"/>
              <a:t>に及ぼす影響​</a:t>
            </a:r>
            <a:endParaRPr lang="ja-JP" alt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39F61C5-9803-EB42-78D8-4F43E60E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834EE8E9-4105-A02B-75C4-C9AAE89F8CC6}"/>
              </a:ext>
            </a:extLst>
          </p:cNvPr>
          <p:cNvSpPr txBox="1">
            <a:spLocks/>
          </p:cNvSpPr>
          <p:nvPr/>
        </p:nvSpPr>
        <p:spPr>
          <a:xfrm>
            <a:off x="569167" y="2375497"/>
            <a:ext cx="11112760" cy="597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★ズレの量を大きくすると、ユーザが違和感を感じる</a:t>
            </a:r>
            <a:endParaRPr lang="en-US" altLang="ja-JP" sz="2400" dirty="0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99F83152-15C3-5C89-0F8E-2D577474822A}"/>
              </a:ext>
            </a:extLst>
          </p:cNvPr>
          <p:cNvSpPr txBox="1">
            <a:spLocks/>
          </p:cNvSpPr>
          <p:nvPr/>
        </p:nvSpPr>
        <p:spPr>
          <a:xfrm>
            <a:off x="539620" y="3015626"/>
            <a:ext cx="11112760" cy="79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	</a:t>
            </a:r>
            <a:r>
              <a:rPr lang="ja-JP" altLang="en-US" sz="2400" dirty="0"/>
              <a:t>→ 違和感を緩和するため、</a:t>
            </a:r>
            <a:r>
              <a:rPr lang="ja-JP" altLang="en-US" b="1" dirty="0">
                <a:solidFill>
                  <a:srgbClr val="FF0000"/>
                </a:solidFill>
              </a:rPr>
              <a:t>視覚効果</a:t>
            </a:r>
            <a:r>
              <a:rPr lang="ja-JP" altLang="en-US" sz="2400" dirty="0"/>
              <a:t>を提案・実験する</a:t>
            </a:r>
            <a:endParaRPr lang="en-US" altLang="ja-JP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270BCE71-C83F-C263-332D-B3F8386CA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90" y="4041641"/>
            <a:ext cx="2573532" cy="2085769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F0CC7BCD-BA3A-E8FD-A492-4A69A847F6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01" r="6779"/>
          <a:stretch>
            <a:fillRect/>
          </a:stretch>
        </p:blipFill>
        <p:spPr>
          <a:xfrm>
            <a:off x="6617121" y="4041641"/>
            <a:ext cx="2573532" cy="208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05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2F5B-9DCF-07FF-22B0-55376FCB9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32DF88-9FDB-7F4C-39B5-CC88B9677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視線誘導が、</a:t>
            </a:r>
            <a:r>
              <a:rPr lang="en-US" altLang="ja-JP" dirty="0"/>
              <a:t>RDW</a:t>
            </a:r>
            <a:r>
              <a:rPr lang="ja-JP" altLang="en-US" dirty="0"/>
              <a:t>を改善する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C24724-0A34-B4E9-80C8-CBC6ECC14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167" y="1586040"/>
            <a:ext cx="11112760" cy="597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ユーザの視点の動きを増やすことで、</a:t>
            </a:r>
            <a:r>
              <a:rPr lang="en-US" altLang="ja-JP" dirty="0"/>
              <a:t>RDW</a:t>
            </a:r>
            <a:r>
              <a:rPr lang="ja-JP" altLang="en-US" dirty="0"/>
              <a:t>の影響を大きくできる</a:t>
            </a:r>
            <a:endParaRPr lang="en-US" altLang="ja-JP" dirty="0"/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01E0AFBB-2885-1F17-8EDF-E5F724F40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視覚効果による視線誘導が</a:t>
            </a:r>
            <a:r>
              <a:rPr lang="en-US" altLang="ja-JP"/>
              <a:t>Redirected Walking</a:t>
            </a:r>
            <a:r>
              <a:rPr lang="ja-JP" altLang="en-US"/>
              <a:t>に及ぼす影響​</a:t>
            </a:r>
            <a:endParaRPr lang="ja-JP" alt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2976AD7-1F60-A07B-692D-E302BF3D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EC937244-AA09-0393-FB32-71956DB8C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931" y="3544155"/>
            <a:ext cx="1835928" cy="1308146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79EF3215-5BD1-3865-B992-03BADF1CF3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2"/>
          <a:stretch>
            <a:fillRect/>
          </a:stretch>
        </p:blipFill>
        <p:spPr bwMode="auto">
          <a:xfrm>
            <a:off x="1394774" y="3226130"/>
            <a:ext cx="2912660" cy="214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CF485D7-C994-0CFB-7AA5-31ACF24D1C64}"/>
              </a:ext>
            </a:extLst>
          </p:cNvPr>
          <p:cNvSpPr/>
          <p:nvPr/>
        </p:nvSpPr>
        <p:spPr>
          <a:xfrm>
            <a:off x="1394773" y="3174425"/>
            <a:ext cx="2842146" cy="227201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C903231-E400-F7A3-2FE9-E5988E4C2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9850" y="3713105"/>
            <a:ext cx="2814358" cy="1644101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5CB7435-4F88-0991-AB55-413AED9493AE}"/>
              </a:ext>
            </a:extLst>
          </p:cNvPr>
          <p:cNvSpPr/>
          <p:nvPr/>
        </p:nvSpPr>
        <p:spPr>
          <a:xfrm>
            <a:off x="4553952" y="3173271"/>
            <a:ext cx="2842146" cy="227201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9399C8A-3070-366B-AF2C-F6228BECADAE}"/>
              </a:ext>
            </a:extLst>
          </p:cNvPr>
          <p:cNvSpPr/>
          <p:nvPr/>
        </p:nvSpPr>
        <p:spPr>
          <a:xfrm>
            <a:off x="7661023" y="3189392"/>
            <a:ext cx="2735572" cy="227201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08E521E2-C19E-4165-319D-5D70E6C3E5E8}"/>
              </a:ext>
            </a:extLst>
          </p:cNvPr>
          <p:cNvSpPr/>
          <p:nvPr/>
        </p:nvSpPr>
        <p:spPr>
          <a:xfrm rot="20846099">
            <a:off x="1345876" y="2070003"/>
            <a:ext cx="1898908" cy="1511577"/>
          </a:xfrm>
          <a:custGeom>
            <a:avLst/>
            <a:gdLst>
              <a:gd name="connsiteX0" fmla="*/ 533953 w 1996104"/>
              <a:gd name="connsiteY0" fmla="*/ 9130 h 1700818"/>
              <a:gd name="connsiteX1" fmla="*/ 1700387 w 1996104"/>
              <a:gd name="connsiteY1" fmla="*/ 269111 h 1700818"/>
              <a:gd name="connsiteX2" fmla="*/ 1986974 w 1996104"/>
              <a:gd name="connsiteY2" fmla="*/ 720090 h 1700818"/>
              <a:gd name="connsiteX3" fmla="*/ 1913130 w 1996104"/>
              <a:gd name="connsiteY3" fmla="*/ 1051400 h 1700818"/>
              <a:gd name="connsiteX4" fmla="*/ 1462150 w 1996104"/>
              <a:gd name="connsiteY4" fmla="*/ 1337986 h 1700818"/>
              <a:gd name="connsiteX5" fmla="*/ 604223 w 1996104"/>
              <a:gd name="connsiteY5" fmla="*/ 1146766 h 1700818"/>
              <a:gd name="connsiteX6" fmla="*/ 484527 w 1996104"/>
              <a:gd name="connsiteY6" fmla="*/ 1700818 h 1700818"/>
              <a:gd name="connsiteX7" fmla="*/ 352720 w 1996104"/>
              <a:gd name="connsiteY7" fmla="*/ 1090710 h 1700818"/>
              <a:gd name="connsiteX8" fmla="*/ 295716 w 1996104"/>
              <a:gd name="connsiteY8" fmla="*/ 1078005 h 1700818"/>
              <a:gd name="connsiteX9" fmla="*/ 9130 w 1996104"/>
              <a:gd name="connsiteY9" fmla="*/ 627026 h 1700818"/>
              <a:gd name="connsiteX10" fmla="*/ 82974 w 1996104"/>
              <a:gd name="connsiteY10" fmla="*/ 295716 h 1700818"/>
              <a:gd name="connsiteX11" fmla="*/ 533953 w 1996104"/>
              <a:gd name="connsiteY11" fmla="*/ 9130 h 170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96104" h="1700818">
                <a:moveTo>
                  <a:pt x="533953" y="9130"/>
                </a:moveTo>
                <a:lnTo>
                  <a:pt x="1700387" y="269111"/>
                </a:lnTo>
                <a:cubicBezTo>
                  <a:pt x="1904060" y="314507"/>
                  <a:pt x="2032370" y="516417"/>
                  <a:pt x="1986974" y="720090"/>
                </a:cubicBezTo>
                <a:lnTo>
                  <a:pt x="1913130" y="1051400"/>
                </a:lnTo>
                <a:cubicBezTo>
                  <a:pt x="1867734" y="1255073"/>
                  <a:pt x="1665824" y="1383382"/>
                  <a:pt x="1462150" y="1337986"/>
                </a:cubicBezTo>
                <a:lnTo>
                  <a:pt x="604223" y="1146766"/>
                </a:lnTo>
                <a:lnTo>
                  <a:pt x="484527" y="1700818"/>
                </a:lnTo>
                <a:lnTo>
                  <a:pt x="352720" y="1090710"/>
                </a:lnTo>
                <a:lnTo>
                  <a:pt x="295716" y="1078005"/>
                </a:lnTo>
                <a:cubicBezTo>
                  <a:pt x="92043" y="1032609"/>
                  <a:pt x="-36266" y="830699"/>
                  <a:pt x="9130" y="627026"/>
                </a:cubicBezTo>
                <a:lnTo>
                  <a:pt x="82974" y="295716"/>
                </a:lnTo>
                <a:cubicBezTo>
                  <a:pt x="128370" y="92043"/>
                  <a:pt x="330280" y="-36266"/>
                  <a:pt x="533953" y="913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コンテンツ プレースホルダー 2">
            <a:extLst>
              <a:ext uri="{FF2B5EF4-FFF2-40B4-BE49-F238E27FC236}">
                <a16:creationId xmlns:a16="http://schemas.microsoft.com/office/drawing/2014/main" id="{486705F8-C898-BEA1-5269-C049E379AC61}"/>
              </a:ext>
            </a:extLst>
          </p:cNvPr>
          <p:cNvSpPr txBox="1">
            <a:spLocks/>
          </p:cNvSpPr>
          <p:nvPr/>
        </p:nvSpPr>
        <p:spPr>
          <a:xfrm>
            <a:off x="1332505" y="2547043"/>
            <a:ext cx="1943063" cy="597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000" dirty="0"/>
              <a:t>90°</a:t>
            </a:r>
            <a:r>
              <a:rPr lang="ja-JP" altLang="en-US" sz="2000" dirty="0"/>
              <a:t>右を見るぞ</a:t>
            </a:r>
            <a:endParaRPr lang="en-US" altLang="ja-JP" sz="2000" dirty="0"/>
          </a:p>
        </p:txBody>
      </p:sp>
      <p:sp>
        <p:nvSpPr>
          <p:cNvPr id="32" name="フリーフォーム: 図形 31">
            <a:extLst>
              <a:ext uri="{FF2B5EF4-FFF2-40B4-BE49-F238E27FC236}">
                <a16:creationId xmlns:a16="http://schemas.microsoft.com/office/drawing/2014/main" id="{8F677058-EB3B-9217-166B-D6B604E5ECE0}"/>
              </a:ext>
            </a:extLst>
          </p:cNvPr>
          <p:cNvSpPr/>
          <p:nvPr/>
        </p:nvSpPr>
        <p:spPr>
          <a:xfrm rot="20846099">
            <a:off x="4625119" y="2067644"/>
            <a:ext cx="1898908" cy="1511577"/>
          </a:xfrm>
          <a:custGeom>
            <a:avLst/>
            <a:gdLst>
              <a:gd name="connsiteX0" fmla="*/ 533953 w 1996104"/>
              <a:gd name="connsiteY0" fmla="*/ 9130 h 1700818"/>
              <a:gd name="connsiteX1" fmla="*/ 1700387 w 1996104"/>
              <a:gd name="connsiteY1" fmla="*/ 269111 h 1700818"/>
              <a:gd name="connsiteX2" fmla="*/ 1986974 w 1996104"/>
              <a:gd name="connsiteY2" fmla="*/ 720090 h 1700818"/>
              <a:gd name="connsiteX3" fmla="*/ 1913130 w 1996104"/>
              <a:gd name="connsiteY3" fmla="*/ 1051400 h 1700818"/>
              <a:gd name="connsiteX4" fmla="*/ 1462150 w 1996104"/>
              <a:gd name="connsiteY4" fmla="*/ 1337986 h 1700818"/>
              <a:gd name="connsiteX5" fmla="*/ 604223 w 1996104"/>
              <a:gd name="connsiteY5" fmla="*/ 1146766 h 1700818"/>
              <a:gd name="connsiteX6" fmla="*/ 484527 w 1996104"/>
              <a:gd name="connsiteY6" fmla="*/ 1700818 h 1700818"/>
              <a:gd name="connsiteX7" fmla="*/ 352720 w 1996104"/>
              <a:gd name="connsiteY7" fmla="*/ 1090710 h 1700818"/>
              <a:gd name="connsiteX8" fmla="*/ 295716 w 1996104"/>
              <a:gd name="connsiteY8" fmla="*/ 1078005 h 1700818"/>
              <a:gd name="connsiteX9" fmla="*/ 9130 w 1996104"/>
              <a:gd name="connsiteY9" fmla="*/ 627026 h 1700818"/>
              <a:gd name="connsiteX10" fmla="*/ 82974 w 1996104"/>
              <a:gd name="connsiteY10" fmla="*/ 295716 h 1700818"/>
              <a:gd name="connsiteX11" fmla="*/ 533953 w 1996104"/>
              <a:gd name="connsiteY11" fmla="*/ 9130 h 170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96104" h="1700818">
                <a:moveTo>
                  <a:pt x="533953" y="9130"/>
                </a:moveTo>
                <a:lnTo>
                  <a:pt x="1700387" y="269111"/>
                </a:lnTo>
                <a:cubicBezTo>
                  <a:pt x="1904060" y="314507"/>
                  <a:pt x="2032370" y="516417"/>
                  <a:pt x="1986974" y="720090"/>
                </a:cubicBezTo>
                <a:lnTo>
                  <a:pt x="1913130" y="1051400"/>
                </a:lnTo>
                <a:cubicBezTo>
                  <a:pt x="1867734" y="1255073"/>
                  <a:pt x="1665824" y="1383382"/>
                  <a:pt x="1462150" y="1337986"/>
                </a:cubicBezTo>
                <a:lnTo>
                  <a:pt x="604223" y="1146766"/>
                </a:lnTo>
                <a:lnTo>
                  <a:pt x="484527" y="1700818"/>
                </a:lnTo>
                <a:lnTo>
                  <a:pt x="352720" y="1090710"/>
                </a:lnTo>
                <a:lnTo>
                  <a:pt x="295716" y="1078005"/>
                </a:lnTo>
                <a:cubicBezTo>
                  <a:pt x="92043" y="1032609"/>
                  <a:pt x="-36266" y="830699"/>
                  <a:pt x="9130" y="627026"/>
                </a:cubicBezTo>
                <a:lnTo>
                  <a:pt x="82974" y="295716"/>
                </a:lnTo>
                <a:cubicBezTo>
                  <a:pt x="128370" y="92043"/>
                  <a:pt x="330280" y="-36266"/>
                  <a:pt x="533953" y="913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AD8AA1CD-B8B6-E575-0414-342BF4ACE71C}"/>
              </a:ext>
            </a:extLst>
          </p:cNvPr>
          <p:cNvSpPr txBox="1">
            <a:spLocks/>
          </p:cNvSpPr>
          <p:nvPr/>
        </p:nvSpPr>
        <p:spPr>
          <a:xfrm>
            <a:off x="4823892" y="2451581"/>
            <a:ext cx="1725542" cy="5973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000" dirty="0"/>
              <a:t>90°</a:t>
            </a:r>
            <a:r>
              <a:rPr lang="ja-JP" altLang="en-US" sz="2000" dirty="0"/>
              <a:t>左に</a:t>
            </a:r>
            <a:br>
              <a:rPr lang="en-US" altLang="ja-JP" sz="2000" dirty="0"/>
            </a:br>
            <a:r>
              <a:rPr lang="ja-JP" altLang="en-US" sz="2000" dirty="0"/>
              <a:t>　　　　戻ろう</a:t>
            </a:r>
            <a:endParaRPr lang="en-US" altLang="ja-JP" sz="2000" dirty="0"/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4963DDC9-3DB8-E9A1-4842-0C189758B432}"/>
              </a:ext>
            </a:extLst>
          </p:cNvPr>
          <p:cNvSpPr/>
          <p:nvPr/>
        </p:nvSpPr>
        <p:spPr>
          <a:xfrm>
            <a:off x="7359263" y="4054362"/>
            <a:ext cx="390617" cy="484632"/>
          </a:xfrm>
          <a:prstGeom prst="rightArrow">
            <a:avLst>
              <a:gd name="adj1" fmla="val 35346"/>
              <a:gd name="adj2" fmla="val 4772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0CD2B9A5-4103-4DF9-3C2A-3EA3F81BA6CC}"/>
              </a:ext>
            </a:extLst>
          </p:cNvPr>
          <p:cNvSpPr/>
          <p:nvPr/>
        </p:nvSpPr>
        <p:spPr>
          <a:xfrm>
            <a:off x="4213702" y="4060825"/>
            <a:ext cx="390617" cy="484632"/>
          </a:xfrm>
          <a:prstGeom prst="rightArrow">
            <a:avLst>
              <a:gd name="adj1" fmla="val 35346"/>
              <a:gd name="adj2" fmla="val 4772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D5CBBB54-6017-28A6-BF1F-2ECBB901DB03}"/>
              </a:ext>
            </a:extLst>
          </p:cNvPr>
          <p:cNvGrpSpPr/>
          <p:nvPr/>
        </p:nvGrpSpPr>
        <p:grpSpPr>
          <a:xfrm>
            <a:off x="7502418" y="2078524"/>
            <a:ext cx="2250083" cy="1188515"/>
            <a:chOff x="7023882" y="2270879"/>
            <a:chExt cx="2365254" cy="1337310"/>
          </a:xfrm>
        </p:grpSpPr>
        <p:sp>
          <p:nvSpPr>
            <p:cNvPr id="29" name="思考の吹き出し: 雲形 28">
              <a:extLst>
                <a:ext uri="{FF2B5EF4-FFF2-40B4-BE49-F238E27FC236}">
                  <a16:creationId xmlns:a16="http://schemas.microsoft.com/office/drawing/2014/main" id="{A259DDA2-6D98-DABB-0D29-8F862225C286}"/>
                </a:ext>
              </a:extLst>
            </p:cNvPr>
            <p:cNvSpPr/>
            <p:nvPr/>
          </p:nvSpPr>
          <p:spPr>
            <a:xfrm rot="188012">
              <a:off x="7023882" y="2270879"/>
              <a:ext cx="2365254" cy="1337310"/>
            </a:xfrm>
            <a:prstGeom prst="cloudCallout">
              <a:avLst>
                <a:gd name="adj1" fmla="val -9318"/>
                <a:gd name="adj2" fmla="val 8406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83685E27-E0EE-E135-7EDA-4A4D270A644E}"/>
                </a:ext>
              </a:extLst>
            </p:cNvPr>
            <p:cNvSpPr/>
            <p:nvPr/>
          </p:nvSpPr>
          <p:spPr>
            <a:xfrm rot="18868573">
              <a:off x="8829830" y="2900508"/>
              <a:ext cx="267435" cy="3488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コンテンツ プレースホルダー 2">
            <a:extLst>
              <a:ext uri="{FF2B5EF4-FFF2-40B4-BE49-F238E27FC236}">
                <a16:creationId xmlns:a16="http://schemas.microsoft.com/office/drawing/2014/main" id="{811032FE-FB93-5FDA-60FB-50E4B95B988C}"/>
              </a:ext>
            </a:extLst>
          </p:cNvPr>
          <p:cNvSpPr txBox="1">
            <a:spLocks/>
          </p:cNvSpPr>
          <p:nvPr/>
        </p:nvSpPr>
        <p:spPr>
          <a:xfrm>
            <a:off x="7867743" y="2522880"/>
            <a:ext cx="1619384" cy="597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元の向きだ！</a:t>
            </a:r>
            <a:endParaRPr lang="en-US" altLang="ja-JP" sz="20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34F1473-32B6-313A-B8AB-F3293BE32209}"/>
              </a:ext>
            </a:extLst>
          </p:cNvPr>
          <p:cNvSpPr txBox="1"/>
          <p:nvPr/>
        </p:nvSpPr>
        <p:spPr>
          <a:xfrm>
            <a:off x="3155460" y="5910385"/>
            <a:ext cx="6083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>
                <a:solidFill>
                  <a:srgbClr val="FF0000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ユーザの認識と、実際の向きが異なる</a:t>
            </a:r>
            <a:endParaRPr kumimoji="1" lang="ja-JP" altLang="en-US" sz="2800" dirty="0">
              <a:solidFill>
                <a:srgbClr val="FF0000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43" name="矢印: 上 42">
            <a:extLst>
              <a:ext uri="{FF2B5EF4-FFF2-40B4-BE49-F238E27FC236}">
                <a16:creationId xmlns:a16="http://schemas.microsoft.com/office/drawing/2014/main" id="{9359468B-03D0-9E9C-5CEB-1D00A9A2AAEA}"/>
              </a:ext>
            </a:extLst>
          </p:cNvPr>
          <p:cNvSpPr/>
          <p:nvPr/>
        </p:nvSpPr>
        <p:spPr>
          <a:xfrm rot="10800000">
            <a:off x="5154503" y="5511593"/>
            <a:ext cx="2085633" cy="416497"/>
          </a:xfrm>
          <a:prstGeom prst="upArrow">
            <a:avLst>
              <a:gd name="adj1" fmla="val 71713"/>
              <a:gd name="adj2" fmla="val 57061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45" name="矢印: 上 44">
            <a:extLst>
              <a:ext uri="{FF2B5EF4-FFF2-40B4-BE49-F238E27FC236}">
                <a16:creationId xmlns:a16="http://schemas.microsoft.com/office/drawing/2014/main" id="{AA9A7A48-6B61-C7C3-F69F-161803BEB285}"/>
              </a:ext>
            </a:extLst>
          </p:cNvPr>
          <p:cNvSpPr/>
          <p:nvPr/>
        </p:nvSpPr>
        <p:spPr>
          <a:xfrm rot="8132031">
            <a:off x="8619272" y="4526716"/>
            <a:ext cx="305189" cy="173661"/>
          </a:xfrm>
          <a:prstGeom prst="upArrow">
            <a:avLst>
              <a:gd name="adj1" fmla="val 58351"/>
              <a:gd name="adj2" fmla="val 55353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905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4FFC1-0232-BC1E-B1CA-EFAAF2319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1E3B1D-A75E-F12B-183B-BE6A44713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視線誘導が、</a:t>
            </a:r>
            <a:r>
              <a:rPr lang="en-US" altLang="ja-JP" dirty="0"/>
              <a:t>RDW</a:t>
            </a:r>
            <a:r>
              <a:rPr lang="ja-JP" altLang="en-US" dirty="0"/>
              <a:t>を改善する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BE4549-3F90-D64A-19B9-D676D3477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167" y="1586040"/>
            <a:ext cx="11112760" cy="597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>
                <a:solidFill>
                  <a:srgbClr val="FF0000"/>
                </a:solidFill>
              </a:rPr>
              <a:t>ユーザの視点の動きを増やす</a:t>
            </a:r>
            <a:r>
              <a:rPr lang="ja-JP" altLang="en-US" dirty="0"/>
              <a:t>ことで、</a:t>
            </a:r>
            <a:r>
              <a:rPr lang="en-US" altLang="ja-JP" dirty="0"/>
              <a:t>RDW</a:t>
            </a:r>
            <a:r>
              <a:rPr lang="ja-JP" altLang="en-US" dirty="0"/>
              <a:t>の影響を大きくできる</a:t>
            </a:r>
            <a:endParaRPr lang="en-US" altLang="ja-JP" dirty="0"/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651504A4-8EAC-D398-16EA-8B8135AE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視覚効果による視線誘導が</a:t>
            </a:r>
            <a:r>
              <a:rPr lang="en-US" altLang="ja-JP"/>
              <a:t>Redirected Walking</a:t>
            </a:r>
            <a:r>
              <a:rPr lang="ja-JP" altLang="en-US"/>
              <a:t>に及ぼす影響​</a:t>
            </a:r>
            <a:endParaRPr lang="ja-JP" alt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CC0DCBD-990F-1E99-83E4-B9DB5B52D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BF26D0C6-AE52-AE47-852F-354454E7F5F0}"/>
              </a:ext>
            </a:extLst>
          </p:cNvPr>
          <p:cNvSpPr txBox="1">
            <a:spLocks/>
          </p:cNvSpPr>
          <p:nvPr/>
        </p:nvSpPr>
        <p:spPr>
          <a:xfrm>
            <a:off x="937577" y="2377714"/>
            <a:ext cx="2264768" cy="597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2400" dirty="0"/>
              <a:t>両眼の色差</a:t>
            </a:r>
            <a:endParaRPr lang="en-US" altLang="ja-JP" sz="2400" dirty="0"/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E22F87DB-EB8D-F157-85D6-10A97C8D1B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5" r="2831"/>
          <a:stretch>
            <a:fillRect/>
          </a:stretch>
        </p:blipFill>
        <p:spPr>
          <a:xfrm>
            <a:off x="4649985" y="3420040"/>
            <a:ext cx="2919846" cy="242308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1CCADB2-69F4-C7C3-FE42-673D180D1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06" y="3398473"/>
            <a:ext cx="2823443" cy="2423083"/>
          </a:xfrm>
          <a:prstGeom prst="rect">
            <a:avLst/>
          </a:prstGeom>
        </p:spPr>
      </p:pic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4B3CDFBB-794A-42D6-4D59-EB912FAC86D3}"/>
              </a:ext>
            </a:extLst>
          </p:cNvPr>
          <p:cNvSpPr txBox="1">
            <a:spLocks/>
          </p:cNvSpPr>
          <p:nvPr/>
        </p:nvSpPr>
        <p:spPr>
          <a:xfrm>
            <a:off x="5232194" y="3025468"/>
            <a:ext cx="2472451" cy="506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左を見たくなる</a:t>
            </a:r>
            <a:endParaRPr lang="en-US" altLang="ja-JP" sz="2000" dirty="0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C0A602AF-50CF-D882-4B64-BCA411E193E7}"/>
              </a:ext>
            </a:extLst>
          </p:cNvPr>
          <p:cNvSpPr/>
          <p:nvPr/>
        </p:nvSpPr>
        <p:spPr>
          <a:xfrm flipH="1">
            <a:off x="5183990" y="3380557"/>
            <a:ext cx="1729319" cy="460980"/>
          </a:xfrm>
          <a:prstGeom prst="rightArrow">
            <a:avLst>
              <a:gd name="adj1" fmla="val 35346"/>
              <a:gd name="adj2" fmla="val 75746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94BB6D26-067E-232F-21D0-E59EE3725EDB}"/>
              </a:ext>
            </a:extLst>
          </p:cNvPr>
          <p:cNvSpPr txBox="1">
            <a:spLocks/>
          </p:cNvSpPr>
          <p:nvPr/>
        </p:nvSpPr>
        <p:spPr>
          <a:xfrm>
            <a:off x="2453150" y="5830464"/>
            <a:ext cx="1141267" cy="506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ja-JP" altLang="en-US" sz="2000" dirty="0"/>
              <a:t>右目</a:t>
            </a:r>
            <a:endParaRPr lang="en-US" altLang="ja-JP" sz="2400" dirty="0"/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E2E3F121-1E1F-8983-B6B2-F8E602B3FD2C}"/>
              </a:ext>
            </a:extLst>
          </p:cNvPr>
          <p:cNvSpPr txBox="1">
            <a:spLocks/>
          </p:cNvSpPr>
          <p:nvPr/>
        </p:nvSpPr>
        <p:spPr>
          <a:xfrm>
            <a:off x="666714" y="5819843"/>
            <a:ext cx="1141267" cy="506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左目</a:t>
            </a:r>
            <a:endParaRPr lang="en-US" altLang="ja-JP" sz="2400" dirty="0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23D13E4B-703E-3726-5DD8-27C963244E37}"/>
              </a:ext>
            </a:extLst>
          </p:cNvPr>
          <p:cNvSpPr/>
          <p:nvPr/>
        </p:nvSpPr>
        <p:spPr>
          <a:xfrm rot="15241674" flipH="1">
            <a:off x="1283553" y="3269658"/>
            <a:ext cx="923158" cy="411518"/>
          </a:xfrm>
          <a:prstGeom prst="rightArrow">
            <a:avLst>
              <a:gd name="adj1" fmla="val 35346"/>
              <a:gd name="adj2" fmla="val 47727"/>
            </a:avLst>
          </a:prstGeom>
          <a:solidFill>
            <a:srgbClr val="00B05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144A19C2-2510-8970-C72E-E875B963BA16}"/>
              </a:ext>
            </a:extLst>
          </p:cNvPr>
          <p:cNvSpPr txBox="1">
            <a:spLocks/>
          </p:cNvSpPr>
          <p:nvPr/>
        </p:nvSpPr>
        <p:spPr>
          <a:xfrm>
            <a:off x="1909681" y="2981195"/>
            <a:ext cx="2472451" cy="506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気になる</a:t>
            </a:r>
            <a:endParaRPr lang="en-US" altLang="ja-JP" sz="2000" dirty="0"/>
          </a:p>
        </p:txBody>
      </p:sp>
      <p:sp>
        <p:nvSpPr>
          <p:cNvPr id="37" name="コンテンツ プレースホルダー 2">
            <a:extLst>
              <a:ext uri="{FF2B5EF4-FFF2-40B4-BE49-F238E27FC236}">
                <a16:creationId xmlns:a16="http://schemas.microsoft.com/office/drawing/2014/main" id="{E44CB322-9DB9-4C8F-90D2-BF305BFAA9EB}"/>
              </a:ext>
            </a:extLst>
          </p:cNvPr>
          <p:cNvSpPr txBox="1">
            <a:spLocks/>
          </p:cNvSpPr>
          <p:nvPr/>
        </p:nvSpPr>
        <p:spPr>
          <a:xfrm>
            <a:off x="4553189" y="5850229"/>
            <a:ext cx="1141267" cy="506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クリア</a:t>
            </a:r>
            <a:endParaRPr lang="en-US" altLang="ja-JP" sz="2000" dirty="0"/>
          </a:p>
        </p:txBody>
      </p:sp>
      <p:sp>
        <p:nvSpPr>
          <p:cNvPr id="38" name="コンテンツ プレースホルダー 2">
            <a:extLst>
              <a:ext uri="{FF2B5EF4-FFF2-40B4-BE49-F238E27FC236}">
                <a16:creationId xmlns:a16="http://schemas.microsoft.com/office/drawing/2014/main" id="{7E2C614B-04CB-EFDA-A445-137F254819BF}"/>
              </a:ext>
            </a:extLst>
          </p:cNvPr>
          <p:cNvSpPr txBox="1">
            <a:spLocks/>
          </p:cNvSpPr>
          <p:nvPr/>
        </p:nvSpPr>
        <p:spPr>
          <a:xfrm>
            <a:off x="6510342" y="5830788"/>
            <a:ext cx="1141267" cy="506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ja-JP" altLang="en-US" sz="2000" dirty="0"/>
              <a:t>ブラー</a:t>
            </a:r>
            <a:endParaRPr lang="en-US" altLang="ja-JP" sz="2000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4808549F-12EA-0DF8-31C0-6BC81FE273B8}"/>
              </a:ext>
            </a:extLst>
          </p:cNvPr>
          <p:cNvSpPr/>
          <p:nvPr/>
        </p:nvSpPr>
        <p:spPr>
          <a:xfrm>
            <a:off x="347927" y="2845683"/>
            <a:ext cx="3553097" cy="348028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58AB5A5-4DDC-A912-2D53-9F13773C4D3F}"/>
              </a:ext>
            </a:extLst>
          </p:cNvPr>
          <p:cNvSpPr/>
          <p:nvPr/>
        </p:nvSpPr>
        <p:spPr>
          <a:xfrm>
            <a:off x="4319453" y="2856629"/>
            <a:ext cx="3553096" cy="348028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BFFEB824-F0F9-DAA2-3D7A-794BE748C6E5}"/>
              </a:ext>
            </a:extLst>
          </p:cNvPr>
          <p:cNvCxnSpPr>
            <a:cxnSpLocks/>
          </p:cNvCxnSpPr>
          <p:nvPr/>
        </p:nvCxnSpPr>
        <p:spPr>
          <a:xfrm>
            <a:off x="2095944" y="5819843"/>
            <a:ext cx="0" cy="3469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DC64041B-F381-08E1-8901-568BD125B0E9}"/>
              </a:ext>
            </a:extLst>
          </p:cNvPr>
          <p:cNvCxnSpPr>
            <a:cxnSpLocks/>
          </p:cNvCxnSpPr>
          <p:nvPr/>
        </p:nvCxnSpPr>
        <p:spPr>
          <a:xfrm>
            <a:off x="6075598" y="5841410"/>
            <a:ext cx="0" cy="3469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コンテンツ プレースホルダー 2">
            <a:extLst>
              <a:ext uri="{FF2B5EF4-FFF2-40B4-BE49-F238E27FC236}">
                <a16:creationId xmlns:a16="http://schemas.microsoft.com/office/drawing/2014/main" id="{E843A4FA-5E19-8535-D17A-76C9C2185FBC}"/>
              </a:ext>
            </a:extLst>
          </p:cNvPr>
          <p:cNvSpPr txBox="1">
            <a:spLocks/>
          </p:cNvSpPr>
          <p:nvPr/>
        </p:nvSpPr>
        <p:spPr>
          <a:xfrm>
            <a:off x="4983248" y="2388662"/>
            <a:ext cx="2264768" cy="597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2400" dirty="0"/>
              <a:t>ブラー</a:t>
            </a:r>
            <a:endParaRPr lang="en-US" altLang="ja-JP" sz="2400" dirty="0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D775EC0E-9C99-D369-2C78-751C9858C2D8}"/>
              </a:ext>
            </a:extLst>
          </p:cNvPr>
          <p:cNvSpPr/>
          <p:nvPr/>
        </p:nvSpPr>
        <p:spPr>
          <a:xfrm>
            <a:off x="8290978" y="2856629"/>
            <a:ext cx="3553096" cy="348028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1" name="コンテンツ プレースホルダー 2">
            <a:extLst>
              <a:ext uri="{FF2B5EF4-FFF2-40B4-BE49-F238E27FC236}">
                <a16:creationId xmlns:a16="http://schemas.microsoft.com/office/drawing/2014/main" id="{C09CCF9D-84CA-07C7-F813-41EE0403A75D}"/>
              </a:ext>
            </a:extLst>
          </p:cNvPr>
          <p:cNvSpPr txBox="1">
            <a:spLocks/>
          </p:cNvSpPr>
          <p:nvPr/>
        </p:nvSpPr>
        <p:spPr>
          <a:xfrm>
            <a:off x="8989655" y="2369826"/>
            <a:ext cx="2264768" cy="597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2400" dirty="0"/>
              <a:t>その他</a:t>
            </a:r>
            <a:endParaRPr lang="en-US" altLang="ja-JP" sz="2400" dirty="0"/>
          </a:p>
        </p:txBody>
      </p:sp>
      <p:sp>
        <p:nvSpPr>
          <p:cNvPr id="53" name="コンテンツ プレースホルダー 2">
            <a:extLst>
              <a:ext uri="{FF2B5EF4-FFF2-40B4-BE49-F238E27FC236}">
                <a16:creationId xmlns:a16="http://schemas.microsoft.com/office/drawing/2014/main" id="{B8C04788-E0D8-1EDF-CD6E-848E8B5398E9}"/>
              </a:ext>
            </a:extLst>
          </p:cNvPr>
          <p:cNvSpPr txBox="1">
            <a:spLocks/>
          </p:cNvSpPr>
          <p:nvPr/>
        </p:nvSpPr>
        <p:spPr>
          <a:xfrm>
            <a:off x="8473440" y="3918924"/>
            <a:ext cx="2625894" cy="506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・視野外付近での点滅</a:t>
            </a:r>
            <a:endParaRPr lang="en-US" altLang="ja-JP" sz="2000" dirty="0"/>
          </a:p>
        </p:txBody>
      </p:sp>
      <p:sp>
        <p:nvSpPr>
          <p:cNvPr id="55" name="コンテンツ プレースホルダー 2">
            <a:extLst>
              <a:ext uri="{FF2B5EF4-FFF2-40B4-BE49-F238E27FC236}">
                <a16:creationId xmlns:a16="http://schemas.microsoft.com/office/drawing/2014/main" id="{7710A076-C949-671E-D7F2-99226F86ACC1}"/>
              </a:ext>
            </a:extLst>
          </p:cNvPr>
          <p:cNvSpPr txBox="1">
            <a:spLocks/>
          </p:cNvSpPr>
          <p:nvPr/>
        </p:nvSpPr>
        <p:spPr>
          <a:xfrm>
            <a:off x="8473440" y="4921507"/>
            <a:ext cx="3234555" cy="506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・視野外付近での色彩変化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364700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図 21">
            <a:extLst>
              <a:ext uri="{FF2B5EF4-FFF2-40B4-BE49-F238E27FC236}">
                <a16:creationId xmlns:a16="http://schemas.microsoft.com/office/drawing/2014/main" id="{7D07671E-9171-3A82-778E-726512B9E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40" y="1773108"/>
            <a:ext cx="4027096" cy="388641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5F70A0A-EFB3-7B16-65F5-CC67EE30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視覚効果が</a:t>
            </a:r>
            <a:r>
              <a:rPr kumimoji="1" lang="en-US" altLang="ja-JP" dirty="0"/>
              <a:t>RDW</a:t>
            </a:r>
            <a:r>
              <a:rPr kumimoji="1" lang="ja-JP" altLang="en-US" dirty="0"/>
              <a:t>に与える影響の実験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78B761-9629-0AF2-8661-15C16CAC1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2884" y="1996291"/>
            <a:ext cx="11112760" cy="122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・被験者は、仮想空間上で</a:t>
            </a:r>
            <a:r>
              <a:rPr lang="ja-JP" altLang="en-US" dirty="0"/>
              <a:t>直進する。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</a:t>
            </a:r>
            <a:r>
              <a:rPr kumimoji="1" lang="en-US" altLang="ja-JP" dirty="0"/>
              <a:t>RDW</a:t>
            </a:r>
            <a:r>
              <a:rPr lang="ja-JP" altLang="en-US" dirty="0"/>
              <a:t>で、歩行経路の曲率を操作する。</a:t>
            </a:r>
            <a:endParaRPr kumimoji="1"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3B75AAE-8A14-46FF-FB5B-4C5EFBBF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 dirty="0"/>
              <a:t>視覚効果による視線誘導が</a:t>
            </a:r>
            <a:r>
              <a:rPr lang="en-US" altLang="ja-JP" dirty="0"/>
              <a:t>Redirected Walking</a:t>
            </a:r>
            <a:r>
              <a:rPr lang="ja-JP" altLang="en-US" dirty="0"/>
              <a:t>に及ぼす影響​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125546B-AEB0-DB6A-6D9A-E332AD20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D5BAD14-6DD7-FCEC-32CF-135F0F942D16}"/>
              </a:ext>
            </a:extLst>
          </p:cNvPr>
          <p:cNvSpPr/>
          <p:nvPr/>
        </p:nvSpPr>
        <p:spPr>
          <a:xfrm>
            <a:off x="444593" y="1686174"/>
            <a:ext cx="3961440" cy="4037593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コンテンツ プレースホルダー 2">
            <a:extLst>
              <a:ext uri="{FF2B5EF4-FFF2-40B4-BE49-F238E27FC236}">
                <a16:creationId xmlns:a16="http://schemas.microsoft.com/office/drawing/2014/main" id="{DBFE0BE3-F4FB-9E1D-93AA-EFC07AC5384F}"/>
              </a:ext>
            </a:extLst>
          </p:cNvPr>
          <p:cNvSpPr txBox="1">
            <a:spLocks/>
          </p:cNvSpPr>
          <p:nvPr/>
        </p:nvSpPr>
        <p:spPr>
          <a:xfrm>
            <a:off x="4886731" y="3371171"/>
            <a:ext cx="7111475" cy="787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視覚効果の有無での違和感を比較する</a:t>
            </a:r>
            <a:endParaRPr lang="en-US" altLang="ja-JP" sz="2400" dirty="0"/>
          </a:p>
        </p:txBody>
      </p:sp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6A8BAFBF-AAD3-0FFE-E8A9-7E81A7D6B92F}"/>
              </a:ext>
            </a:extLst>
          </p:cNvPr>
          <p:cNvSpPr txBox="1">
            <a:spLocks/>
          </p:cNvSpPr>
          <p:nvPr/>
        </p:nvSpPr>
        <p:spPr>
          <a:xfrm>
            <a:off x="4552884" y="4306269"/>
            <a:ext cx="7111475" cy="1724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＜違和感の測定方法＞</a:t>
            </a:r>
            <a:endParaRPr lang="en-US" altLang="ja-JP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>
                <a:solidFill>
                  <a:srgbClr val="FF0000"/>
                </a:solidFill>
              </a:rPr>
              <a:t>VAS</a:t>
            </a:r>
            <a:r>
              <a:rPr lang="ja-JP" altLang="en-US" dirty="0">
                <a:solidFill>
                  <a:srgbClr val="FF0000"/>
                </a:solidFill>
              </a:rPr>
              <a:t>（視覚アナログスケール）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7059E1A9-7B42-0001-7293-558BCDED3067}"/>
              </a:ext>
            </a:extLst>
          </p:cNvPr>
          <p:cNvSpPr txBox="1">
            <a:spLocks/>
          </p:cNvSpPr>
          <p:nvPr/>
        </p:nvSpPr>
        <p:spPr>
          <a:xfrm>
            <a:off x="4785561" y="1467351"/>
            <a:ext cx="11112760" cy="122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800" dirty="0"/>
              <a:t>実験内容</a:t>
            </a:r>
            <a:endParaRPr lang="en-US" altLang="ja-JP" sz="2800" dirty="0"/>
          </a:p>
        </p:txBody>
      </p:sp>
      <p:sp>
        <p:nvSpPr>
          <p:cNvPr id="24" name="矢印: 下 23">
            <a:extLst>
              <a:ext uri="{FF2B5EF4-FFF2-40B4-BE49-F238E27FC236}">
                <a16:creationId xmlns:a16="http://schemas.microsoft.com/office/drawing/2014/main" id="{60A700C1-D532-D486-BB66-7D634A9122BB}"/>
              </a:ext>
            </a:extLst>
          </p:cNvPr>
          <p:cNvSpPr/>
          <p:nvPr/>
        </p:nvSpPr>
        <p:spPr>
          <a:xfrm>
            <a:off x="6717372" y="2866109"/>
            <a:ext cx="814408" cy="430134"/>
          </a:xfrm>
          <a:prstGeom prst="downArrow">
            <a:avLst>
              <a:gd name="adj1" fmla="val 52180"/>
              <a:gd name="adj2" fmla="val 68062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A3F14831-4BA7-81A5-0274-E387A6E061CC}"/>
              </a:ext>
            </a:extLst>
          </p:cNvPr>
          <p:cNvGrpSpPr/>
          <p:nvPr/>
        </p:nvGrpSpPr>
        <p:grpSpPr>
          <a:xfrm>
            <a:off x="4785561" y="5291983"/>
            <a:ext cx="6783613" cy="1235841"/>
            <a:chOff x="4566020" y="5282057"/>
            <a:chExt cx="6783613" cy="1235841"/>
          </a:xfrm>
        </p:grpSpPr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B51A86D6-2735-A5D4-A5ED-5764524B16CF}"/>
                </a:ext>
              </a:extLst>
            </p:cNvPr>
            <p:cNvCxnSpPr>
              <a:cxnSpLocks/>
            </p:cNvCxnSpPr>
            <p:nvPr/>
          </p:nvCxnSpPr>
          <p:spPr>
            <a:xfrm>
              <a:off x="5475575" y="5899977"/>
              <a:ext cx="502476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9EA9799B-F0F1-9094-8FA0-B9F021172FF7}"/>
                </a:ext>
              </a:extLst>
            </p:cNvPr>
            <p:cNvCxnSpPr>
              <a:cxnSpLocks/>
            </p:cNvCxnSpPr>
            <p:nvPr/>
          </p:nvCxnSpPr>
          <p:spPr>
            <a:xfrm>
              <a:off x="8112036" y="5731302"/>
              <a:ext cx="0" cy="28408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9003BD12-A13F-2829-25A5-4C54924DFA86}"/>
                </a:ext>
              </a:extLst>
            </p:cNvPr>
            <p:cNvCxnSpPr>
              <a:cxnSpLocks/>
            </p:cNvCxnSpPr>
            <p:nvPr/>
          </p:nvCxnSpPr>
          <p:spPr>
            <a:xfrm>
              <a:off x="5485725" y="5633648"/>
              <a:ext cx="0" cy="38174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889A8EDD-3995-5B5D-577F-A38510234942}"/>
                </a:ext>
              </a:extLst>
            </p:cNvPr>
            <p:cNvCxnSpPr>
              <a:cxnSpLocks/>
            </p:cNvCxnSpPr>
            <p:nvPr/>
          </p:nvCxnSpPr>
          <p:spPr>
            <a:xfrm>
              <a:off x="10503088" y="5661760"/>
              <a:ext cx="0" cy="353628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コンテンツ プレースホルダー 2">
              <a:extLst>
                <a:ext uri="{FF2B5EF4-FFF2-40B4-BE49-F238E27FC236}">
                  <a16:creationId xmlns:a16="http://schemas.microsoft.com/office/drawing/2014/main" id="{3EFAE9EA-5200-2847-D2D6-BBEBD2D291DA}"/>
                </a:ext>
              </a:extLst>
            </p:cNvPr>
            <p:cNvSpPr txBox="1">
              <a:spLocks/>
            </p:cNvSpPr>
            <p:nvPr/>
          </p:nvSpPr>
          <p:spPr>
            <a:xfrm>
              <a:off x="9780551" y="5322980"/>
              <a:ext cx="1569082" cy="7878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kumimoji="1" sz="28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4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ja-JP" altLang="en-US" sz="2000" dirty="0"/>
                <a:t>右に傾いた</a:t>
              </a:r>
              <a:endParaRPr lang="en-US" altLang="ja-JP" sz="2000" dirty="0"/>
            </a:p>
          </p:txBody>
        </p:sp>
        <p:sp>
          <p:nvSpPr>
            <p:cNvPr id="43" name="コンテンツ プレースホルダー 2">
              <a:extLst>
                <a:ext uri="{FF2B5EF4-FFF2-40B4-BE49-F238E27FC236}">
                  <a16:creationId xmlns:a16="http://schemas.microsoft.com/office/drawing/2014/main" id="{FA53C9B1-D82E-085E-40CE-E8EE8F8A0A5F}"/>
                </a:ext>
              </a:extLst>
            </p:cNvPr>
            <p:cNvSpPr txBox="1">
              <a:spLocks/>
            </p:cNvSpPr>
            <p:nvPr/>
          </p:nvSpPr>
          <p:spPr>
            <a:xfrm>
              <a:off x="4566020" y="5282057"/>
              <a:ext cx="1877503" cy="7878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kumimoji="1" sz="28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4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ja-JP" altLang="en-US" sz="2000" dirty="0"/>
                <a:t>真っ直ぐ歩いた</a:t>
              </a:r>
              <a:endParaRPr lang="en-US" altLang="ja-JP" sz="2000" dirty="0"/>
            </a:p>
          </p:txBody>
        </p:sp>
        <p:sp>
          <p:nvSpPr>
            <p:cNvPr id="46" name="コンテンツ プレースホルダー 2">
              <a:extLst>
                <a:ext uri="{FF2B5EF4-FFF2-40B4-BE49-F238E27FC236}">
                  <a16:creationId xmlns:a16="http://schemas.microsoft.com/office/drawing/2014/main" id="{B3302C9C-0133-0DC8-C9D6-ABF7BB9A90A8}"/>
                </a:ext>
              </a:extLst>
            </p:cNvPr>
            <p:cNvSpPr txBox="1">
              <a:spLocks/>
            </p:cNvSpPr>
            <p:nvPr/>
          </p:nvSpPr>
          <p:spPr>
            <a:xfrm>
              <a:off x="5288558" y="5986589"/>
              <a:ext cx="619063" cy="43489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kumimoji="1" sz="28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4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ja-JP" sz="2000" dirty="0"/>
                <a:t>0</a:t>
              </a:r>
            </a:p>
          </p:txBody>
        </p:sp>
        <p:sp>
          <p:nvSpPr>
            <p:cNvPr id="47" name="コンテンツ プレースホルダー 2">
              <a:extLst>
                <a:ext uri="{FF2B5EF4-FFF2-40B4-BE49-F238E27FC236}">
                  <a16:creationId xmlns:a16="http://schemas.microsoft.com/office/drawing/2014/main" id="{AF843B3A-BFCE-5B81-EEEA-0C0C966F5DC9}"/>
                </a:ext>
              </a:extLst>
            </p:cNvPr>
            <p:cNvSpPr txBox="1">
              <a:spLocks/>
            </p:cNvSpPr>
            <p:nvPr/>
          </p:nvSpPr>
          <p:spPr>
            <a:xfrm>
              <a:off x="10273870" y="5988756"/>
              <a:ext cx="791677" cy="52914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kumimoji="1" sz="28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4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UD デジタル 教科書体 NK-B" panose="02020700000000000000" pitchFamily="18" charset="-128"/>
                  <a:ea typeface="UD デジタル 教科書体 NK-B" panose="02020700000000000000" pitchFamily="18" charset="-128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ja-JP" sz="2000" dirty="0"/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7550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8DDC-1F66-C7A9-CC53-0C70EF7FD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0F8F42-249C-B312-3EEF-4ABCEDA73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今後の内容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83FF36-F1E6-235B-C288-C044C9A22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167" y="1586040"/>
            <a:ext cx="11112760" cy="597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実験を行い、視覚効果が</a:t>
            </a:r>
            <a:r>
              <a:rPr lang="en-US" altLang="ja-JP" dirty="0"/>
              <a:t>RDW</a:t>
            </a:r>
            <a:r>
              <a:rPr lang="ja-JP" altLang="en-US" dirty="0"/>
              <a:t>に及ぼす影響を分析する</a:t>
            </a:r>
            <a:endParaRPr lang="en-US" altLang="ja-JP" dirty="0"/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05EB6253-0DEB-71ED-78AF-2C2B4110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視覚効果による視線誘導が</a:t>
            </a:r>
            <a:r>
              <a:rPr lang="en-US" altLang="ja-JP"/>
              <a:t>Redirected Walking</a:t>
            </a:r>
            <a:r>
              <a:rPr lang="ja-JP" altLang="en-US"/>
              <a:t>に及ぼす影響​</a:t>
            </a:r>
            <a:endParaRPr lang="ja-JP" alt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18F00C9-0D5F-C4C2-9D50-32F7AD59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71D9-F208-4F3C-9061-7460F85E898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2414637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黄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465</Words>
  <Application>Microsoft Office PowerPoint</Application>
  <PresentationFormat>ワイド画面</PresentationFormat>
  <Paragraphs>66</Paragraphs>
  <Slides>8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8</vt:i4>
      </vt:variant>
    </vt:vector>
  </HeadingPairs>
  <TitlesOfParts>
    <vt:vector size="16" baseType="lpstr">
      <vt:lpstr>UD デジタル 教科書体 NK-B</vt:lpstr>
      <vt:lpstr>游ゴシック</vt:lpstr>
      <vt:lpstr>Arial</vt:lpstr>
      <vt:lpstr>Calibri</vt:lpstr>
      <vt:lpstr>Calibri Light</vt:lpstr>
      <vt:lpstr>Wingdings 2</vt:lpstr>
      <vt:lpstr>デザインの設定</vt:lpstr>
      <vt:lpstr>HDOfficeLightV0</vt:lpstr>
      <vt:lpstr>視覚効果による視線誘導がRedirected Walking に及ぼす影響の研究</vt:lpstr>
      <vt:lpstr>RDW(Redirected Walking)とは</vt:lpstr>
      <vt:lpstr>RDW(Redirected Walking)とは</vt:lpstr>
      <vt:lpstr>RDWの問題点</vt:lpstr>
      <vt:lpstr>視線誘導が、RDWを改善する</vt:lpstr>
      <vt:lpstr>視線誘導が、RDWを改善する</vt:lpstr>
      <vt:lpstr>視覚効果がRDWに与える影響の実験</vt:lpstr>
      <vt:lpstr>今後の内容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 Y</dc:creator>
  <cp:lastModifiedBy>矢吹　隼人【佐世保学生】</cp:lastModifiedBy>
  <cp:revision>2</cp:revision>
  <dcterms:created xsi:type="dcterms:W3CDTF">2025-10-26T10:34:10Z</dcterms:created>
  <dcterms:modified xsi:type="dcterms:W3CDTF">2025-10-26T19:55:04Z</dcterms:modified>
</cp:coreProperties>
</file>